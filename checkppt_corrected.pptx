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</p:embeddedFont>
    <p:embeddedFont>
      <p:font typeface="Oswald" panose="00000500000000000000" pitchFamily="2" charset="0"/>
      <p:regular r:id="rId12"/>
      <p:bold r:id="rId13"/>
    </p:embeddedFont>
    <p:embeddedFont>
      <p:font typeface="Times" panose="02020603050405020304" pitchFamily="18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4C9022-57C1-4CEA-9898-AF8987066F9A}">
  <a:tblStyle styleId="{5E4C9022-57C1-4CEA-9898-AF8987066F9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swald"/>
              <a:buNone/>
              <a:defRPr sz="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»"/>
              <a:defRPr sz="2800"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sz="2400" b="1"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3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4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swald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swald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 rot="5400000">
            <a:off x="3580605" y="-1875632"/>
            <a:ext cx="5030789" cy="1097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6" cy="274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6" cy="802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marL="2743200" lvl="5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marL="3200400" lvl="6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marL="3657600" lvl="7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marL="4114800" lvl="8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0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-11750" y="-5875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762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7140405" y="851507"/>
            <a:ext cx="4638605" cy="5154969"/>
          </a:xfrm>
          <a:custGeom>
            <a:avLst/>
            <a:gdLst/>
            <a:ahLst/>
            <a:cxnLst/>
            <a:rect l="l" t="t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3" descr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362815" y="1875418"/>
            <a:ext cx="3203508" cy="342623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ubTitle" idx="4294967295"/>
          </p:nvPr>
        </p:nvSpPr>
        <p:spPr>
          <a:xfrm>
            <a:off x="1245685" y="648613"/>
            <a:ext cx="8534401" cy="175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ctrTitle" idx="4294967295"/>
          </p:nvPr>
        </p:nvSpPr>
        <p:spPr>
          <a:xfrm>
            <a:off x="331286" y="-526757"/>
            <a:ext cx="10363201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000"/>
              <a:buFont typeface="Garamond"/>
              <a:buNone/>
            </a:pPr>
            <a:r>
              <a:rPr lang="en-US" sz="4000" b="1" i="0" u="none" strike="noStrike" cap="none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376999" y="1797025"/>
            <a:ext cx="6989151" cy="3392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60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SIH26076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0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 - </a:t>
            </a: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Development of Personalized Homepage for 'Mausam' Mobile Application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0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0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 - </a:t>
            </a: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0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 - </a:t>
            </a:r>
            <a:r>
              <a:rPr sz="2000" b="0">
                <a:solidFill>
                  <a:srgbClr val="0070C0"/>
                </a:solidFill>
                <a:latin typeface="Arial"/>
              </a:rPr>
              <a:t>  [Portal Team ID]</a:t>
            </a:r>
            <a:endParaRPr sz="1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0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(Registered on portal) - </a:t>
            </a: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BugNotFound</a:t>
            </a:r>
            <a:endParaRPr/>
          </a:p>
        </p:txBody>
      </p:sp>
      <p:pic>
        <p:nvPicPr>
          <p:cNvPr id="67" name="Google Shape;67;p13" descr="Pictur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3" name="Google Shape;73;p14" descr="PHOTO-2026-09-03-00-19-54.jpg"/>
          <p:cNvPicPr preferRelativeResize="0"/>
          <p:nvPr/>
        </p:nvPicPr>
        <p:blipFill rotWithShape="1">
          <a:blip r:embed="rId3">
            <a:alphaModFix/>
          </a:blip>
          <a:srcRect l="35657" t="18102" r="35657" b="8322"/>
          <a:stretch/>
        </p:blipFill>
        <p:spPr>
          <a:xfrm>
            <a:off x="9079762" y="1107170"/>
            <a:ext cx="2950863" cy="504582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4693925" y="6404315"/>
            <a:ext cx="3112551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BugNotFound · SIH 2026</a:t>
            </a: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1972500" y="-123162"/>
            <a:ext cx="791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Garamond"/>
              <a:buNone/>
            </a:pPr>
            <a:r>
              <a:rPr lang="en-US" sz="4000" b="1">
                <a:latin typeface="Garamond"/>
                <a:ea typeface="Garamond"/>
                <a:cs typeface="Garamond"/>
                <a:sym typeface="Garamond"/>
              </a:rPr>
              <a:t>SOLUTION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b="1">
                <a:solidFill>
                  <a:srgbClr val="FFFFFF"/>
                </a:solidFill>
              </a:rPr>
              <a:t>2</a:t>
            </a:r>
            <a:endParaRPr/>
          </a:p>
        </p:txBody>
      </p:sp>
      <p:grpSp>
        <p:nvGrpSpPr>
          <p:cNvPr id="77" name="Google Shape;77;p14"/>
          <p:cNvGrpSpPr/>
          <p:nvPr/>
        </p:nvGrpSpPr>
        <p:grpSpPr>
          <a:xfrm>
            <a:off x="133105" y="113929"/>
            <a:ext cx="1831531" cy="656467"/>
            <a:chOff x="-1" y="0"/>
            <a:chExt cx="1831529" cy="656465"/>
          </a:xfrm>
        </p:grpSpPr>
        <p:sp>
          <p:nvSpPr>
            <p:cNvPr id="78" name="Google Shape;78;p14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pic>
        <p:nvPicPr>
          <p:cNvPr id="80" name="Google Shape;80;p14" descr="Google Shape;10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" y="6356348"/>
            <a:ext cx="12192001" cy="53035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4750199" y="6354274"/>
            <a:ext cx="3000001" cy="355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BugNotFound · SIH 2026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11311849" y="6354274"/>
            <a:ext cx="627001" cy="355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83" name="Google Shape;83;p14"/>
          <p:cNvGrpSpPr/>
          <p:nvPr/>
        </p:nvGrpSpPr>
        <p:grpSpPr>
          <a:xfrm>
            <a:off x="625438" y="473808"/>
            <a:ext cx="3634520" cy="3634521"/>
            <a:chOff x="0" y="-429948"/>
            <a:chExt cx="3634518" cy="3634520"/>
          </a:xfrm>
        </p:grpSpPr>
        <p:sp>
          <p:nvSpPr>
            <p:cNvPr id="84" name="Google Shape;84;p14"/>
            <p:cNvSpPr/>
            <p:nvPr/>
          </p:nvSpPr>
          <p:spPr>
            <a:xfrm>
              <a:off x="0" y="0"/>
              <a:ext cx="3469724" cy="2731773"/>
            </a:xfrm>
            <a:prstGeom prst="roundRect">
              <a:avLst>
                <a:gd name="adj" fmla="val 8242"/>
              </a:avLst>
            </a:prstGeom>
            <a:solidFill>
              <a:srgbClr val="CCDDFC">
                <a:alpha val="67059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79242" y="-429948"/>
              <a:ext cx="3555276" cy="3634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Solution :-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❖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Mausam 2.0 is a personalized weather intelligence engine built on official IMD/MoES warnings with a provider-agnostic live-data layer.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❖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Weather Data + User Context → Impact Analysis → Smart Recommendation</a:t>
              </a:r>
              <a:endParaRPr/>
            </a:p>
            <a:p>
              <a:pPr marL="457200" marR="0" lvl="0" indent="-31750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❖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It adapts one homepage for Health, Fitness, Travel, Beach, Family, Agriculture, Commute and Events.</a:t>
              </a:r>
              <a:endParaRPr/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4305441" y="874541"/>
            <a:ext cx="4728838" cy="2833054"/>
            <a:chOff x="0" y="-168141"/>
            <a:chExt cx="4728837" cy="2833053"/>
          </a:xfrm>
        </p:grpSpPr>
        <p:sp>
          <p:nvSpPr>
            <p:cNvPr id="87" name="Google Shape;87;p14"/>
            <p:cNvSpPr/>
            <p:nvPr/>
          </p:nvSpPr>
          <p:spPr>
            <a:xfrm>
              <a:off x="0" y="0"/>
              <a:ext cx="4728837" cy="2496772"/>
            </a:xfrm>
            <a:prstGeom prst="roundRect">
              <a:avLst>
                <a:gd name="adj" fmla="val 6489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67976" y="-168141"/>
              <a:ext cx="4592884" cy="28330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It Addresses the Problem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lang="en-US" sz="1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Improves decision-making. One adaptive homepage instead of separate experiences for 8 user groups.Combines weather + location + time + activities.</a:t>
              </a:r>
              <a:endParaRPr/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lang="en-US" sz="1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Provides personalized alerts and recommendations.</a:t>
              </a:r>
              <a:endParaRPr/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lang="en-US" sz="1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Keeps official IMD warnings separate and prioritized.</a:t>
              </a:r>
              <a:endParaRPr/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lang="en-US" sz="1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Converts complex forecasts into simple decisions.</a:t>
              </a:r>
              <a:endParaRPr/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1993514" y="3588753"/>
            <a:ext cx="4720722" cy="2879664"/>
            <a:chOff x="0" y="0"/>
            <a:chExt cx="4720721" cy="2879662"/>
          </a:xfrm>
        </p:grpSpPr>
        <p:sp>
          <p:nvSpPr>
            <p:cNvPr id="90" name="Google Shape;90;p14"/>
            <p:cNvSpPr/>
            <p:nvPr/>
          </p:nvSpPr>
          <p:spPr>
            <a:xfrm>
              <a:off x="0" y="182100"/>
              <a:ext cx="4720721" cy="2519398"/>
            </a:xfrm>
            <a:prstGeom prst="roundRect">
              <a:avLst>
                <a:gd name="adj" fmla="val 5834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 txBox="1"/>
            <p:nvPr/>
          </p:nvSpPr>
          <p:spPr>
            <a:xfrm>
              <a:off x="64419" y="0"/>
              <a:ext cx="4595699" cy="2879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91400" rIns="91400" bIns="91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lang="en-US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Innovation &amp; Uniqueness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lang="en-US" sz="1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Decisions, not Data: Converts weather data into actionable recommendations. Context Engine: Understands Who + Where + What + When.</a:t>
              </a:r>
              <a:endParaRPr/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lang="en-US" sz="1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Automatically reorganizes widgets and alerts based on user type (farmers, commuters, travelers).</a:t>
              </a:r>
              <a:endParaRPr/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lang="en-US" sz="1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Offline Cache: Caches emergency storm alerts locally for low-connectivity rural areas.</a:t>
              </a:r>
              <a:br>
                <a:rPr lang="en-US" sz="1300" b="1" i="0" u="none" strike="noStrike" cap="non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</a:br>
              <a:endParaRPr/>
            </a:p>
          </p:txBody>
        </p:sp>
      </p:grpSp>
      <p:pic>
        <p:nvPicPr>
          <p:cNvPr id="92" name="Google Shape;92;p14" descr="Picture 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3648" y="-19539"/>
            <a:ext cx="1955606" cy="92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8" name="Google Shape;98;p15" descr="PHOTO-2026-09-02-23-49-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8095" y="979593"/>
            <a:ext cx="6952419" cy="47146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4693925" y="6406796"/>
            <a:ext cx="3112551" cy="26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BugNotFound · SIH 2026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0" y="6354762"/>
            <a:ext cx="12192000" cy="503101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624024" y="-224375"/>
            <a:ext cx="10972801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xfrm>
            <a:off x="11393642" y="6404303"/>
            <a:ext cx="188859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b="1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71512" y="4096237"/>
            <a:ext cx="5539912" cy="202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Technical Approach : - 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Context-aware personalization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based on user persona + location.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Adaptive widget ranking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context-aware &amp; rule-based today; behavior-learning on the roadmap.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Proximity-based weather alerts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for nearby severe conditions.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Offline caching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for low-connectivity areas.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Feedback loop (roadmap)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user interactions tune widget ranking over time.</a:t>
            </a:r>
            <a:endParaRPr/>
          </a:p>
        </p:txBody>
      </p:sp>
      <p:pic>
        <p:nvPicPr>
          <p:cNvPr id="104" name="Google Shape;104;p15" descr="Pictur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6339" y="34813"/>
            <a:ext cx="1955606" cy="92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5"/>
          <p:cNvGrpSpPr/>
          <p:nvPr/>
        </p:nvGrpSpPr>
        <p:grpSpPr>
          <a:xfrm>
            <a:off x="133105" y="113929"/>
            <a:ext cx="1831531" cy="656467"/>
            <a:chOff x="-1" y="0"/>
            <a:chExt cx="1831529" cy="656465"/>
          </a:xfrm>
        </p:grpSpPr>
        <p:sp>
          <p:nvSpPr>
            <p:cNvPr id="106" name="Google Shape;106;p15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pic>
        <p:nvPicPr>
          <p:cNvPr id="108" name="Google Shape;108;p15" descr="PHOTO-2026-09-02-22-40-42.jpg"/>
          <p:cNvPicPr preferRelativeResize="0"/>
          <p:nvPr/>
        </p:nvPicPr>
        <p:blipFill rotWithShape="1">
          <a:blip r:embed="rId5">
            <a:alphaModFix/>
          </a:blip>
          <a:srcRect r="12442" b="26757"/>
          <a:stretch/>
        </p:blipFill>
        <p:spPr>
          <a:xfrm>
            <a:off x="220942" y="1147539"/>
            <a:ext cx="4876904" cy="27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199606" y="4091614"/>
            <a:ext cx="5611818" cy="2257191"/>
          </a:xfrm>
          <a:prstGeom prst="roundRect">
            <a:avLst>
              <a:gd name="adj" fmla="val 16667"/>
            </a:avLst>
          </a:prstGeom>
          <a:solidFill>
            <a:srgbClr val="CEDEFB">
              <a:alpha val="19980"/>
            </a:srgbClr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6600000" algn="bl" rotWithShape="0">
              <a:srgbClr val="00FFFF">
                <a:alpha val="40000"/>
              </a:srgbClr>
            </a:outerShdw>
            <a:reflection stA="4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1673350" y="-101125"/>
            <a:ext cx="82209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693925" y="6406808"/>
            <a:ext cx="3112551" cy="26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BugNotFound · SIH 2026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b="1">
                <a:solidFill>
                  <a:srgbClr val="FFFFFF"/>
                </a:solidFill>
              </a:rPr>
              <a:t>4</a:t>
            </a:r>
            <a:endParaRPr/>
          </a:p>
        </p:txBody>
      </p:sp>
      <p:pic>
        <p:nvPicPr>
          <p:cNvPr id="119" name="Google Shape;119;p16" descr="Picture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4827" y="-22244"/>
            <a:ext cx="1913087" cy="903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6"/>
          <p:cNvGrpSpPr/>
          <p:nvPr/>
        </p:nvGrpSpPr>
        <p:grpSpPr>
          <a:xfrm>
            <a:off x="133105" y="113929"/>
            <a:ext cx="1831531" cy="656467"/>
            <a:chOff x="-1" y="0"/>
            <a:chExt cx="1831529" cy="656465"/>
          </a:xfrm>
        </p:grpSpPr>
        <p:sp>
          <p:nvSpPr>
            <p:cNvPr id="121" name="Google Shape;121;p16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pic>
        <p:nvPicPr>
          <p:cNvPr id="123" name="Google Shape;123;p16" descr="c6193514-61d4-40dc-9c5b-2d1062c57a86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815" y="849183"/>
            <a:ext cx="5914327" cy="3303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fc1407b0-1d25-45ed-b51a-c6367bcb3aeb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277" y="4221870"/>
            <a:ext cx="5953362" cy="206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eabed7f9-045f-4156-9f4f-f4d81940d006.jpg"/>
          <p:cNvPicPr preferRelativeResize="0"/>
          <p:nvPr/>
        </p:nvPicPr>
        <p:blipFill rotWithShape="1">
          <a:blip r:embed="rId6">
            <a:alphaModFix/>
          </a:blip>
          <a:srcRect t="11440"/>
          <a:stretch/>
        </p:blipFill>
        <p:spPr>
          <a:xfrm>
            <a:off x="9569569" y="3019244"/>
            <a:ext cx="2530416" cy="3174721"/>
          </a:xfrm>
          <a:prstGeom prst="rect">
            <a:avLst/>
          </a:prstGeom>
          <a:noFill/>
          <a:ln w="9525">
            <a:solidFill>
              <a:srgbClr val="C9C9C9"/>
            </a:solidFill>
          </a:ln>
        </p:spPr>
      </p:pic>
      <p:sp>
        <p:nvSpPr>
          <p:cNvPr id="126" name="TextBox 125"/>
          <p:cNvSpPr txBox="1"/>
          <p:nvPr/>
        </p:nvSpPr>
        <p:spPr>
          <a:xfrm>
            <a:off x="6675120" y="1188720"/>
            <a:ext cx="5120640" cy="23774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</a:rPr>
              <a:t>FEASIBILITY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62626"/>
                </a:solidFill>
              </a:rPr>
              <a:t>•  Budget-first: React Native runs on entry Android phones; offline cache for patchy rural networks.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62626"/>
                </a:solidFill>
              </a:rPr>
              <a:t>•  Live data: Open-Meteo today; IMD/CPCB/INCOIS adapters sit behind a provider abstraction — mocks never block delivery.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62626"/>
                </a:solidFill>
              </a:rPr>
              <a:t>•  Licensing: MoES/IMD open-data terms confirmed during SIH; the design is license-agnostic.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262626"/>
                </a:solidFill>
              </a:rPr>
              <a:t>•  Risks → mitigation: provider fallback chain, local offline cache, and source/confidence labels on every card.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75120" y="3657600"/>
            <a:ext cx="3154680" cy="26060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</a:rPr>
              <a:t>VIABILITY — BUSINESS MODEL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262626"/>
                </a:solidFill>
              </a:rPr>
              <a:t>•  B2G: IMD &amp; government departments for public weather services.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262626"/>
                </a:solidFill>
              </a:rPr>
              <a:t>•  B2B: weather-personalization API for agriculture, logistics, tourism &amp; disaster management.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262626"/>
                </a:solidFill>
              </a:rPr>
              <a:t>•  Freemium: free personalized weather; premium briefings, maps &amp; alert add-ons.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262626"/>
                </a:solidFill>
              </a:rPr>
              <a:t>•  Partners: API licensing + non-intrusive sponsored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678550" y="6468233"/>
            <a:ext cx="3112551" cy="26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BugNotFound · SIH 2026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0" y="6383625"/>
            <a:ext cx="12192000" cy="474301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609600" y="-46000"/>
            <a:ext cx="10972800" cy="72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sldNum" idx="12"/>
          </p:nvPr>
        </p:nvSpPr>
        <p:spPr>
          <a:xfrm>
            <a:off x="11393642" y="6465752"/>
            <a:ext cx="188859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b="1">
                <a:solidFill>
                  <a:srgbClr val="FFFFFF"/>
                </a:solidFill>
              </a:rPr>
              <a:t>5</a:t>
            </a:r>
            <a:endParaRPr/>
          </a:p>
        </p:txBody>
      </p:sp>
      <p:pic>
        <p:nvPicPr>
          <p:cNvPr id="136" name="Google Shape;136;p17" descr="Google Shape;330;p5"/>
          <p:cNvPicPr preferRelativeResize="0"/>
          <p:nvPr/>
        </p:nvPicPr>
        <p:blipFill rotWithShape="1">
          <a:blip r:embed="rId3">
            <a:alphaModFix/>
          </a:blip>
          <a:srcRect l="18347" t="15400" r="9175" b="15400"/>
          <a:stretch/>
        </p:blipFill>
        <p:spPr>
          <a:xfrm>
            <a:off x="2281919" y="5385264"/>
            <a:ext cx="1414093" cy="962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Google Shape;33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4838099" y="5389199"/>
            <a:ext cx="1088221" cy="962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Google Shape;33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4591" y="4806476"/>
            <a:ext cx="1354200" cy="1157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Google Shape;333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72434" y="4909232"/>
            <a:ext cx="1231274" cy="1051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Picture 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3235" y="-42564"/>
            <a:ext cx="1673886" cy="7903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7"/>
          <p:cNvGrpSpPr/>
          <p:nvPr/>
        </p:nvGrpSpPr>
        <p:grpSpPr>
          <a:xfrm>
            <a:off x="186030" y="183142"/>
            <a:ext cx="1831529" cy="656465"/>
            <a:chOff x="-1" y="0"/>
            <a:chExt cx="1831529" cy="656465"/>
          </a:xfrm>
        </p:grpSpPr>
        <p:sp>
          <p:nvSpPr>
            <p:cNvPr id="142" name="Google Shape;142;p17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graphicFrame>
        <p:nvGraphicFramePr>
          <p:cNvPr id="144" name="Google Shape;144;p17"/>
          <p:cNvGraphicFramePr/>
          <p:nvPr/>
        </p:nvGraphicFramePr>
        <p:xfrm>
          <a:off x="372814" y="1099834"/>
          <a:ext cx="6451100" cy="4247875"/>
        </p:xfrm>
        <a:graphic>
          <a:graphicData uri="http://schemas.openxmlformats.org/drawingml/2006/table">
            <a:tbl>
              <a:tblPr>
                <a:noFill/>
                <a:tableStyleId>{5E4C9022-57C1-4CEA-9898-AF8987066F9A}</a:tableStyleId>
              </a:tblPr>
              <a:tblGrid>
                <a:gridCol w="188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b="1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Feature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b="1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Mausam (Our Solution)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b="1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AccuWeather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b="1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Weather Channel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b="1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Google Weather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Personalized Homepage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 Context-aware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 Limited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 Limited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 Basic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User Persona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Adaptive Widgets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Location-based weather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Persona-based Alerts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Severe Weather Proximity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Offline Support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India-focused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b="0" u="none" strike="noStrike" cap="none"/>
                        <a:t>✅ </a:t>
                      </a:r>
                      <a:r>
                        <a:rPr lang="en-US" sz="1200" b="1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IMD/Mausam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strike="noStrike" cap="non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L="12700" marR="12700" marT="12700" marB="12700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45" name="Google Shape;145;p17" descr="PHOTO-2026-09-03-00-09-29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59201" y="1380272"/>
            <a:ext cx="5113568" cy="3409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65760" y="1284650"/>
            <a:ext cx="11475720" cy="4806300"/>
          </a:xfrm>
          <a:prstGeom prst="roundRect">
            <a:avLst>
              <a:gd name="adj" fmla="val 16667"/>
            </a:avLst>
          </a:prstGeom>
          <a:solidFill>
            <a:srgbClr val="CEDEFB">
              <a:alpha val="19980"/>
            </a:srgbClr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FFFF">
                <a:alpha val="40000"/>
              </a:srgbClr>
            </a:outerShdw>
            <a:reflection stA="4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693925" y="6406808"/>
            <a:ext cx="3112551" cy="26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BugNotFound · SIH 2026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0" y="6404325"/>
            <a:ext cx="12192000" cy="4536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>
            <a:spLocks noGrp="1"/>
          </p:cNvSpPr>
          <p:nvPr>
            <p:ph type="title"/>
          </p:nvPr>
        </p:nvSpPr>
        <p:spPr>
          <a:xfrm>
            <a:off x="5383836" y="641778"/>
            <a:ext cx="5928900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7"/>
              <a:buFont typeface="Times New Roman"/>
              <a:buNone/>
            </a:pPr>
            <a:r>
              <a:rPr lang="en-US" sz="3007" b="1" u="sng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u="sng"/>
          </a:p>
        </p:txBody>
      </p:sp>
      <p:sp>
        <p:nvSpPr>
          <p:cNvPr id="156" name="Google Shape;156;p18"/>
          <p:cNvSpPr txBox="1">
            <a:spLocks noGrp="1"/>
          </p:cNvSpPr>
          <p:nvPr>
            <p:ph type="sldNum" idx="12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b="1">
                <a:solidFill>
                  <a:srgbClr val="FFFFFF"/>
                </a:solidFill>
              </a:rPr>
              <a:t>6</a:t>
            </a:r>
            <a:endParaRPr/>
          </a:p>
        </p:txBody>
      </p:sp>
      <p:pic>
        <p:nvPicPr>
          <p:cNvPr id="157" name="Google Shape;157;p18" descr="Picture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0544" y="-31860"/>
            <a:ext cx="1769701" cy="835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8"/>
          <p:cNvGrpSpPr/>
          <p:nvPr/>
        </p:nvGrpSpPr>
        <p:grpSpPr>
          <a:xfrm>
            <a:off x="133105" y="113929"/>
            <a:ext cx="1831531" cy="656467"/>
            <a:chOff x="-1" y="0"/>
            <a:chExt cx="1831529" cy="656465"/>
          </a:xfrm>
        </p:grpSpPr>
        <p:sp>
          <p:nvSpPr>
            <p:cNvPr id="159" name="Google Shape;159;p18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sp>
        <p:nvSpPr>
          <p:cNvPr id="162" name="Google Shape;162;p18"/>
          <p:cNvSpPr txBox="1"/>
          <p:nvPr/>
        </p:nvSpPr>
        <p:spPr>
          <a:xfrm>
            <a:off x="502920" y="1557125"/>
            <a:ext cx="1124712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Persona-Driven Weather Customization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Reference: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Stamoulis &amp; Giannopoulos (2022), </a:t>
            </a: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"My personal forecast": the digital transformation of the weather forecast communication using a fuzzy logic recommendation system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[cite: Stamoulis, D. S., &amp; Giannopoulos, P. A. (2022). “My personal forecast”: the digital transformation of the weather forecast communication using a fuzzy logic recommendation system. Advances in Science and Research, 19, 9–12.].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Usage: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Proves the effectiveness of shifting from generic dashboards to tailored, fuzzy-logic-based weather recommendations.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Cognitive Load &amp; Usability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Reference: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Eachus &amp; Keim (2019), </a:t>
            </a: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Users’ Perceptions of Smartphone Weather Applications’ Usability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Usage: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Highlights how filtering out non-essential parameters reduces clutter and improves quick decision-making during severe weather.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Context-Aware Recommender Systems (CARS)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Reference: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Ricci, Rokach, &amp; Shapira (2015), </a:t>
            </a: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Recommender Systems Handbook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(Springer).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lang="en-US" sz="1200" b="0" i="1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Usage: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Provides the architectural backbone for dynamically changing the UI based on real-time location, time, and user persona.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702</Words>
  <Application>Microsoft Office PowerPoint</Application>
  <PresentationFormat>Widescreen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Garamond</vt:lpstr>
      <vt:lpstr>Calibri</vt:lpstr>
      <vt:lpstr>Times New Roman</vt:lpstr>
      <vt:lpstr>Oswald</vt:lpstr>
      <vt:lpstr>Times</vt:lpstr>
      <vt:lpstr>Arial</vt:lpstr>
      <vt:lpstr>Office Theme</vt:lpstr>
      <vt:lpstr>SMART INDIA HACKATHON 2026</vt:lpstr>
      <vt:lpstr>SOLUTION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Shivam Kumar</cp:lastModifiedBy>
  <cp:revision>2</cp:revision>
  <dcterms:modified xsi:type="dcterms:W3CDTF">2026-09-18T18:04:56Z</dcterms:modified>
</cp:coreProperties>
</file>