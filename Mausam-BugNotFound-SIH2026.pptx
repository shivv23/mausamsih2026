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 lIns="76200" rIns="76200" tIns="38100" bIns="38100"/>
          <a:lstStyle/>
          <a:p>
            <a:pPr algn="l"/>
            <a:r>
              <a:rPr sz="1800" b="1">
                <a:solidFill>
                  <a:srgbClr val="1F497D"/>
                </a:solidFill>
                <a:latin typeface="Calibri"/>
              </a:rPr>
              <a:t>IDEA PRESENTATION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ctr" lIns="76200" rIns="76200" tIns="38100" bIns="38100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Problem Statement ID  :  26076</a:t>
            </a:r>
            <a:endParaRPr lang="en-US" dirty="0"/>
          </a:p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Problem Statement Title  :  Development of Personalized Homepage for 'Mausam' Mobile Application</a:t>
            </a:r>
          </a:p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Theme  :  Smart Automation</a:t>
            </a:r>
          </a:p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PS Category  :  Software</a:t>
            </a:r>
          </a:p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Team ID  :  —</a:t>
            </a:r>
          </a:p>
          <a:p>
            <a:pPr algn="l"/>
            <a:r>
              <a:rPr sz="1600" b="1">
                <a:solidFill>
                  <a:srgbClr val="C00000"/>
                </a:solidFill>
                <a:latin typeface="Calibri"/>
              </a:rPr>
              <a:t>Team Name (Registered on portal)  :  BugNotFound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BugNotFound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0040" y="1024128"/>
            <a:ext cx="11548872" cy="868680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Mausam 2.0 — Personalized Weather Intelligence on official IMD / MoES data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20040" y="2148840"/>
            <a:ext cx="3703320" cy="3977639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THE IDEA</a:t>
            </a:r>
          </a:p>
          <a:p>
            <a:pPr algn="l"/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Knows WHO you are, WHERE you are and WHAT you plan.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Shows you decisions, not raw numbers.</a:t>
            </a:r>
          </a:p>
          <a:p>
            <a:pPr algn="l"/>
            <a:r>
              <a:rPr sz="6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Delivered as a personalized homepage inside the official Mausam app.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242816" y="2148840"/>
            <a:ext cx="3703320" cy="3977639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HOW IT WORKS</a:t>
            </a:r>
          </a:p>
          <a:p>
            <a:pPr algn="l"/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Context Engine, not widget-picking.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Score = Interest x Context x Urgency x Time x Location x Behaviour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'My Day' = weather as a timeline of decisions (6:30 run - great; 5:30 commute - rain risk).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165592" y="2148840"/>
            <a:ext cx="3703320" cy="3977639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WHAT'S UNIQUE</a:t>
            </a:r>
          </a:p>
          <a:p>
            <a:pPr algn="l"/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8 personas, 11 languages, offline-first.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Explainable AI - every card shows 'Why?'.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'Ask' AI copilot answers like a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BugNotFound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960120"/>
            <a:ext cx="5074920" cy="15544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TECHNOLOGY STACK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Mobile - React Native + Expo (TS, Hermes) - offline-first - 11-language i18n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Backend - Python 3.12 + FastAPI - PostgreSQL + PostGIS - Redis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2651760"/>
            <a:ext cx="5074920" cy="1143000"/>
          </a:xfrm>
          <a:prstGeom prst="roundRect">
            <a:avLst>
              <a:gd name="adj" fmla="val 10000"/>
            </a:avLst>
          </a:prstGeom>
          <a:solidFill>
            <a:srgbClr val="145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SOURCES (free &amp; public)</a:t>
            </a:r>
          </a:p>
          <a:p>
            <a:pPr algn="l"/>
            <a:r>
              <a:rPr sz="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IMD + Open-Meteo (live now) - CPCB - INCOIS - ISRO via provider abstraction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393192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WORKING PROTOTYPE (live)</a:t>
            </a:r>
          </a:p>
        </p:txBody>
      </p:sp>
      <p:pic>
        <p:nvPicPr>
          <p:cNvPr id="17413" name="Picture 17412" descr="apppsmau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498848"/>
            <a:ext cx="2606040" cy="173736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6812280" y="960120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STEP 1  ·  YOU open the Mausam App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persona  ·  location  ·  what you plan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8458200" y="1417320"/>
            <a:ext cx="0" cy="27432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>
            <a:off x="9189720" y="1417320"/>
            <a:ext cx="0" cy="27432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5669280" y="1691640"/>
            <a:ext cx="6309360" cy="3246120"/>
          </a:xfrm>
          <a:prstGeom prst="roundRect">
            <a:avLst>
              <a:gd name="adj" fmla="val 6000"/>
            </a:avLst>
          </a:prstGeom>
          <a:solidFill>
            <a:srgbClr val="0E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/>
            <a:r>
              <a:rPr sz="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BACKEND  (FastAPI, Python 3.12)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25312" y="2057400"/>
            <a:ext cx="5797296" cy="4572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Data Aggregator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IMD · Open-Meteo · CPCB · INCOIS · ISRO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8823960" y="2514600"/>
            <a:ext cx="0" cy="22860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5925312" y="2743200"/>
            <a:ext cx="5797296" cy="457200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Personalization &amp; Ranking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Score = Interest×Context×Urgency×Time×Location×Behaviour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823960" y="3200400"/>
            <a:ext cx="0" cy="22860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7635240" y="3200400"/>
            <a:ext cx="0" cy="22860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10012680" y="3200400"/>
            <a:ext cx="0" cy="22860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5925312" y="3429000"/>
            <a:ext cx="2784348" cy="38404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PostgreSQL + PostGIS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938260" y="3429000"/>
            <a:ext cx="2784348" cy="384048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Severe-Weather Push Alerts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8823960" y="3813048"/>
            <a:ext cx="0" cy="4572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5925312" y="3858768"/>
            <a:ext cx="5797296" cy="457200"/>
          </a:xfrm>
          <a:prstGeom prst="roundRect">
            <a:avLst>
              <a:gd name="adj" fmla="val 10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Delivery layer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push · in-app cards · "Ask" (AI)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8823960" y="4315968"/>
            <a:ext cx="0" cy="621792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>
            <a:off x="8458200" y="4315968"/>
            <a:ext cx="0" cy="1033272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>
            <a:off x="9189720" y="4315968"/>
            <a:ext cx="0" cy="1033272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5669280" y="5349240"/>
            <a:ext cx="6309360" cy="6858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STEP 3  ·  END RESULT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8-persona Homepage · My Day · Ask (AI) · Alerts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decisions, not raw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BugNotFound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05840"/>
            <a:ext cx="5349240" cy="320040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FEASIBLE TODAY</a:t>
            </a:r>
          </a:p>
          <a:p>
            <a:pPr algn="l"/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FREE &amp; public data - IMD, CPCB, INCOIS, ISRO.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Open-Meteo live now -&gt; demo never blocks on an API.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Proven low-cost stack (FastAPI + Expo).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Offline-first, 2G-friendly, works on budget phones.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Modular monolith scales to national load.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4370832"/>
            <a:ext cx="5349240" cy="18288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STRATEGY TO DE-RISK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Multi-source fallback chain + mocks.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Confidence scoring + provenance labels.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DPDP-compliant consent; licensing verified in SIH week.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897880" y="1005840"/>
            <a:ext cx="5971032" cy="5193792"/>
          </a:xfrm>
          <a:prstGeom prst="roundRect">
            <a:avLst>
              <a:gd name="adj" fmla="val 10000"/>
            </a:avLst>
          </a:prstGeom>
          <a:solidFill>
            <a:srgbClr val="FBEFE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C00000"/>
                </a:solidFill>
                <a:latin typeface="Calibri"/>
              </a:rPr>
              <a:t>CHALLENGES &amp; RISKS</a:t>
            </a:r>
          </a:p>
          <a:p>
            <a:pPr algn="l"/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C00000"/>
                </a:solidFill>
                <a:latin typeface="Calibri"/>
              </a:rPr>
              <a:t>IMD API changes / downtime / licensing  (Med-High)</a:t>
            </a:r>
          </a:p>
          <a:p>
            <a:pPr algn="l"/>
            <a:r>
              <a:rPr sz="1300" b="0">
                <a:solidFill>
                  <a:srgbClr val="C00000"/>
                </a:solidFill>
                <a:latin typeface="Calibri"/>
              </a:rPr>
              <a:t>Data inaccuracy &amp; provenance  (Med-High)</a:t>
            </a:r>
          </a:p>
          <a:p>
            <a:pPr algn="l"/>
            <a:r>
              <a:rPr sz="1300" b="0">
                <a:solidFill>
                  <a:srgbClr val="C00000"/>
                </a:solidFill>
                <a:latin typeface="Calibri"/>
              </a:rPr>
              <a:t>Scale to full national traffic  (Med)</a:t>
            </a:r>
          </a:p>
          <a:p>
            <a:pPr algn="l"/>
            <a:r>
              <a:rPr sz="1300" b="0">
                <a:solidFill>
                  <a:srgbClr val="C00000"/>
                </a:solidFill>
                <a:latin typeface="Calibri"/>
              </a:rPr>
              <a:t>Battery &amp; data use on low-end devices  (Low-Med)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BugNotFound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05840"/>
            <a:ext cx="5577840" cy="2834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WHO IT HELPS</a:t>
            </a:r>
          </a:p>
          <a:p>
            <a:pPr algn="l"/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Serves 1.4 billion Indians - 8 personas: health, fitness, beach, traveller, parent, farmer, commuter, event planner.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Personalized disaster early-warning at national scale.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Safer commutes, better health &amp; farm decisions.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005840"/>
            <a:ext cx="5742432" cy="2834640"/>
          </a:xfrm>
          <a:prstGeom prst="roundRect">
            <a:avLst>
              <a:gd name="adj" fmla="val 10000"/>
            </a:avLst>
          </a:prstGeom>
          <a:solidFill>
            <a:srgbClr val="EAF6EA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MONTH-1 GOALS</a:t>
            </a:r>
          </a:p>
          <a:p>
            <a:pPr algn="l"/>
            <a:r>
              <a:rPr sz="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1F497D"/>
                </a:solidFill>
                <a:latin typeface="Calibri"/>
              </a:rPr>
              <a:t>10,000+ downloads  |  4.5+ rating  |  40% day-7 retention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60% complete onboarding  |  30% use 'Ask' weekly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Cold-start &lt; 2.5s  |  homepage p95 &lt; 500ms  |  crash &lt; 0.5%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402336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00" b="1">
                <a:solidFill>
                  <a:srgbClr val="1F497D"/>
                </a:solidFill>
                <a:latin typeface="Calibri"/>
              </a:rPr>
              <a:t>SOCIAL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Public safety &amp; trust via transparent, explainable IMD-backed warnings.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61103" y="402336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00" b="1">
                <a:solidFill>
                  <a:srgbClr val="1F497D"/>
                </a:solidFill>
                <a:latin typeface="Calibri"/>
              </a:rPr>
              <a:t>ECONOMIC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Free forever; low-cost adoption for people, schools, government.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202167" y="402336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400" b="1">
                <a:solidFill>
                  <a:srgbClr val="1F497D"/>
                </a:solidFill>
                <a:latin typeface="Calibri"/>
              </a:rPr>
              <a:t>ENVIRONMENTAL</a:t>
            </a:r>
          </a:p>
          <a:p>
            <a:pPr algn="l"/>
            <a:r>
              <a:rPr sz="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Climate awareness, better farm water use, greener choices.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BugNotFound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05840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IMD - official weather &amp; warnings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63640" y="1005840"/>
            <a:ext cx="5559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0">
                <a:solidFill>
                  <a:srgbClr val="2E86C1"/>
                </a:solidFill>
                <a:latin typeface="Calibri"/>
              </a:rPr>
              <a:t>mausam.imd.gov.in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719072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CPCB - National Air Quality Index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63640" y="1719072"/>
            <a:ext cx="5559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0">
                <a:solidFill>
                  <a:srgbClr val="2E86C1"/>
                </a:solidFill>
                <a:latin typeface="Calibri"/>
              </a:rPr>
              <a:t>airquality.cpcb.gov.in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432304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INCOIS - Ocean State Forecast (tides / waves / SST)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63640" y="2432304"/>
            <a:ext cx="5559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0">
                <a:solidFill>
                  <a:srgbClr val="2E86C1"/>
                </a:solidFill>
                <a:latin typeface="Calibri"/>
              </a:rPr>
              <a:t>incois.gov.in/portal/osf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3145536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ISRO Bhuvan - geospatial + soil moisture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63640" y="3145536"/>
            <a:ext cx="5559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0">
                <a:solidFill>
                  <a:srgbClr val="2E86C1"/>
                </a:solidFill>
                <a:latin typeface="Calibri"/>
              </a:rPr>
              <a:t>bhuvan.nrsc.gov.in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3858768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Govt Open Data Platform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263640" y="3858768"/>
            <a:ext cx="5559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0">
                <a:solidFill>
                  <a:srgbClr val="2E86C1"/>
                </a:solidFill>
                <a:latin typeface="Calibri"/>
              </a:rPr>
              <a:t>data.gov.in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4572000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Open-Meteo - live fallback (pollen / UV / AQI)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263640" y="4572000"/>
            <a:ext cx="5559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0">
                <a:solidFill>
                  <a:srgbClr val="2E86C1"/>
                </a:solidFill>
                <a:latin typeface="Calibri"/>
              </a:rPr>
              <a:t>open-meteo.com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5285232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</a:rPr>
              <a:t>DPDP Act - data protection &amp; consent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63640" y="5285232"/>
            <a:ext cx="5559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200" b="0">
                <a:solidFill>
                  <a:srgbClr val="2E86C1"/>
                </a:solidFill>
                <a:latin typeface="Calibri"/>
              </a:rPr>
              <a:t>meity.gov.in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