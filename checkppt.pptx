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4C9022-57C1-4CEA-9898-AF8987066F9A}">
  <a:tblStyle styleId="{5E4C9022-57C1-4CEA-9898-AF8987066F9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 b="off" i="off"/>
      <a:tcStyle>
        <a:fill>
          <a:solidFill>
            <a:srgbClr val="FFFFFF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Oswald"/>
              <a:buNone/>
              <a:defRPr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963084" y="4406903"/>
            <a:ext cx="10363201" cy="1362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Oswald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Oswald"/>
              <a:buNone/>
              <a:defRPr sz="2000"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Oswald"/>
              <a:buNone/>
              <a:defRPr b="1" sz="2400"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3" type="body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4" type="body"/>
          </p:nvPr>
        </p:nvSpPr>
        <p:spPr>
          <a:xfrm>
            <a:off x="6193368" y="2174875"/>
            <a:ext cx="5389034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609601" y="273050"/>
            <a:ext cx="401108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609601" y="1435103"/>
            <a:ext cx="401108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swald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/>
          <p:nvPr>
            <p:ph idx="2" type="pic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swald"/>
              <a:buNone/>
              <a:defRPr sz="1400"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 rot="5400000">
            <a:off x="3580605" y="-1875632"/>
            <a:ext cx="5030789" cy="10972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 rot="5400000">
            <a:off x="7285038" y="1828804"/>
            <a:ext cx="5851526" cy="2743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 rot="5400000">
            <a:off x="1697038" y="-812796"/>
            <a:ext cx="5851526" cy="802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Oswald"/>
              <a:buNone/>
              <a:defRPr b="0" i="0" sz="44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08784" y="6404315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jpg"/><Relationship Id="rId5" Type="http://schemas.openxmlformats.org/officeDocument/2006/relationships/image" Target="../media/image13.jpg"/><Relationship Id="rId6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10.jpg"/><Relationship Id="rId6" Type="http://schemas.openxmlformats.org/officeDocument/2006/relationships/image" Target="../media/image15.jpg"/><Relationship Id="rId7" Type="http://schemas.openxmlformats.org/officeDocument/2006/relationships/image" Target="../media/image6.png"/><Relationship Id="rId8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jpg"/><Relationship Id="rId5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-11750" y="-5875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762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7140405" y="851507"/>
            <a:ext cx="4638605" cy="5154969"/>
          </a:xfrm>
          <a:custGeom>
            <a:rect b="b" l="l" r="r" t="t"/>
            <a:pathLst>
              <a:path extrusionOk="0" h="21600" w="21523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ogle Shape;90;p1" id="63" name="Google Shape;63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362815" y="1875418"/>
            <a:ext cx="3203508" cy="342623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4294967295" type="subTitle"/>
          </p:nvPr>
        </p:nvSpPr>
        <p:spPr>
          <a:xfrm>
            <a:off x="1245685" y="648613"/>
            <a:ext cx="8534401" cy="1752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/>
          </a:p>
        </p:txBody>
      </p:sp>
      <p:sp>
        <p:nvSpPr>
          <p:cNvPr id="65" name="Google Shape;65;p13"/>
          <p:cNvSpPr txBox="1"/>
          <p:nvPr>
            <p:ph idx="4294967295" type="ctrTitle"/>
          </p:nvPr>
        </p:nvSpPr>
        <p:spPr>
          <a:xfrm>
            <a:off x="331286" y="-526757"/>
            <a:ext cx="10363201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000"/>
              <a:buFont typeface="Garamond"/>
              <a:buNone/>
            </a:pPr>
            <a:r>
              <a:rPr b="1" i="0" lang="en-US" sz="4000" u="none" cap="none" strike="noStrike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376999" y="1797025"/>
            <a:ext cx="6989151" cy="3392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SIH26076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b="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Development of Personalized Homepage for 'Mausam' Mobile Application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b="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 Category - </a:t>
            </a:r>
            <a:r>
              <a:rPr b="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 (Registered on portal) - </a:t>
            </a:r>
            <a:r>
              <a:rPr b="0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BugNotFound</a:t>
            </a:r>
            <a:endParaRPr/>
          </a:p>
        </p:txBody>
      </p:sp>
      <p:pic>
        <p:nvPicPr>
          <p:cNvPr descr="Picture 1" id="67" name="Google Shape;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5" y="1500"/>
            <a:ext cx="2249852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HOTO-2026-09-03-00-19-54.jpg" id="73" name="Google Shape;73;p14"/>
          <p:cNvPicPr preferRelativeResize="0"/>
          <p:nvPr/>
        </p:nvPicPr>
        <p:blipFill rotWithShape="1">
          <a:blip r:embed="rId3">
            <a:alphaModFix/>
          </a:blip>
          <a:srcRect b="8322" l="35657" r="35657" t="18102"/>
          <a:stretch/>
        </p:blipFill>
        <p:spPr>
          <a:xfrm>
            <a:off x="9079762" y="1107170"/>
            <a:ext cx="2950863" cy="504582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4693925" y="6404315"/>
            <a:ext cx="3112551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1972500" y="-123162"/>
            <a:ext cx="791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Garamond"/>
              <a:buNone/>
            </a:pPr>
            <a:r>
              <a:rPr b="1" lang="en-US" sz="4000">
                <a:latin typeface="Garamond"/>
                <a:ea typeface="Garamond"/>
                <a:cs typeface="Garamond"/>
                <a:sym typeface="Garamond"/>
              </a:rPr>
              <a:t>SOLUTION</a:t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78" name="Google Shape;78;p14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pic>
        <p:nvPicPr>
          <p:cNvPr descr="Google Shape;105;p2" id="80" name="Google Shape;8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" y="6356348"/>
            <a:ext cx="12192001" cy="53035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/>
        </p:nvSpPr>
        <p:spPr>
          <a:xfrm>
            <a:off x="4750199" y="6354274"/>
            <a:ext cx="3000001" cy="3556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11311849" y="6354274"/>
            <a:ext cx="627001" cy="3556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83" name="Google Shape;83;p14"/>
          <p:cNvGrpSpPr/>
          <p:nvPr/>
        </p:nvGrpSpPr>
        <p:grpSpPr>
          <a:xfrm>
            <a:off x="625438" y="473808"/>
            <a:ext cx="3634520" cy="3634521"/>
            <a:chOff x="0" y="-429948"/>
            <a:chExt cx="3634518" cy="3634520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3469724" cy="2731773"/>
            </a:xfrm>
            <a:prstGeom prst="roundRect">
              <a:avLst>
                <a:gd fmla="val 8242" name="adj"/>
              </a:avLst>
            </a:prstGeom>
            <a:solidFill>
              <a:srgbClr val="CCDDFC">
                <a:alpha val="67059"/>
              </a:srgbClr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79242" y="-429948"/>
              <a:ext cx="3555276" cy="3634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Solution :-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❖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Mausam 2.0 is a personalized weather intelligence engine using authoritative IMD/MoES data.</a:t>
              </a:r>
              <a:endParaRPr/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❖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IMD Data + User Context → Impact Analysis → Smart Recommendation</a:t>
              </a:r>
              <a:endParaRPr/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❖"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It adapts one homepage for Health, Fitness, Travel, Beach, Family, Agriculture, Commute and Events.</a:t>
              </a:r>
              <a:endParaRPr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4305441" y="874541"/>
            <a:ext cx="4728838" cy="2833054"/>
            <a:chOff x="0" y="-168141"/>
            <a:chExt cx="4728837" cy="2833053"/>
          </a:xfrm>
        </p:grpSpPr>
        <p:sp>
          <p:nvSpPr>
            <p:cNvPr id="87" name="Google Shape;87;p14"/>
            <p:cNvSpPr/>
            <p:nvPr/>
          </p:nvSpPr>
          <p:spPr>
            <a:xfrm>
              <a:off x="0" y="0"/>
              <a:ext cx="4728837" cy="2496772"/>
            </a:xfrm>
            <a:prstGeom prst="roundRect">
              <a:avLst>
                <a:gd fmla="val 6489" name="adj"/>
              </a:avLst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>
              <a:off x="67976" y="-168141"/>
              <a:ext cx="4592884" cy="28330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How It Addresses the Problem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Improves decision-making. One adaptive homepage instead of separate experiences for 8 user groups.Combines weather + location + time + activities + optional calendar.</a:t>
              </a:r>
              <a:endParaRPr/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Provides personalized alerts and recommendations.</a:t>
              </a:r>
              <a:endParaRPr/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Keeps official IMD warnings separate and prioritized.</a:t>
              </a:r>
              <a:endParaRPr/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Converts complex forecasts into simple decisions.</a:t>
              </a:r>
              <a:endParaRPr/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1993514" y="3588753"/>
            <a:ext cx="4720722" cy="2879664"/>
            <a:chOff x="0" y="0"/>
            <a:chExt cx="4720721" cy="2879662"/>
          </a:xfrm>
        </p:grpSpPr>
        <p:sp>
          <p:nvSpPr>
            <p:cNvPr id="90" name="Google Shape;90;p14"/>
            <p:cNvSpPr/>
            <p:nvPr/>
          </p:nvSpPr>
          <p:spPr>
            <a:xfrm>
              <a:off x="0" y="182100"/>
              <a:ext cx="4720721" cy="2519398"/>
            </a:xfrm>
            <a:prstGeom prst="roundRect">
              <a:avLst>
                <a:gd fmla="val 5834" name="adj"/>
              </a:avLst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 txBox="1"/>
            <p:nvPr/>
          </p:nvSpPr>
          <p:spPr>
            <a:xfrm>
              <a:off x="64419" y="0"/>
              <a:ext cx="4595699" cy="2879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Innovation &amp; Uniqueness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Decisions, not Data: Converts weather data into actionable recommendations. Context Engine: Understands Who + Where + What + When.</a:t>
              </a:r>
              <a:endParaRPr/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Automatically reorganizes widgets and alerts based on user type (farmers, commuters, travelers).</a:t>
              </a:r>
              <a:endParaRPr/>
            </a:p>
            <a:p>
              <a:pPr indent="-304800" lvl="0" marL="457200" marR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Char char="❖"/>
              </a:pPr>
              <a: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Offline Mesh Sync: Caches emergency storm alerts locally during rural network outages.</a:t>
              </a:r>
              <a:br>
                <a:rPr b="1" i="0" lang="en-US" sz="1300" u="none" cap="none" strike="noStrike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</a:br>
              <a:endParaRPr/>
            </a:p>
          </p:txBody>
        </p:sp>
      </p:grpSp>
      <p:pic>
        <p:nvPicPr>
          <p:cNvPr descr="Picture 1" id="92" name="Google Shape;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3648" y="-19539"/>
            <a:ext cx="1955606" cy="92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HOTO-2026-09-02-23-49-01.jp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8095" y="979593"/>
            <a:ext cx="6952419" cy="471461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4693925" y="6406796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0" y="6354762"/>
            <a:ext cx="12192000" cy="50310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type="title"/>
          </p:nvPr>
        </p:nvSpPr>
        <p:spPr>
          <a:xfrm>
            <a:off x="624024" y="-224375"/>
            <a:ext cx="10972801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11393642" y="6404303"/>
            <a:ext cx="188859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71512" y="4096237"/>
            <a:ext cx="5539912" cy="20247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Technical Approach : -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Context-aware personalization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based on user persona + location.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Adaptive widget ranking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based on user behavior.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Proximity-based weather alerts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for nearby severe conditions.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Offline caching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for low-connectivity areas.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Feedback-driven recommendations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to continuously improve personalization.</a:t>
            </a:r>
            <a:endParaRPr/>
          </a:p>
        </p:txBody>
      </p:sp>
      <p:pic>
        <p:nvPicPr>
          <p:cNvPr descr="Picture 1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26339" y="34813"/>
            <a:ext cx="1955606" cy="92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5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106" name="Google Shape;106;p15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pic>
        <p:nvPicPr>
          <p:cNvPr descr="PHOTO-2026-09-02-22-40-42.jpg" id="108" name="Google Shape;108;p15"/>
          <p:cNvPicPr preferRelativeResize="0"/>
          <p:nvPr/>
        </p:nvPicPr>
        <p:blipFill rotWithShape="1">
          <a:blip r:embed="rId5">
            <a:alphaModFix/>
          </a:blip>
          <a:srcRect b="26757" l="0" r="12442" t="0"/>
          <a:stretch/>
        </p:blipFill>
        <p:spPr>
          <a:xfrm>
            <a:off x="220942" y="1147539"/>
            <a:ext cx="4876904" cy="271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133100" y="4030275"/>
            <a:ext cx="5539800" cy="2147100"/>
          </a:xfrm>
          <a:prstGeom prst="roundRect">
            <a:avLst>
              <a:gd fmla="val 16667" name="adj"/>
            </a:avLst>
          </a:prstGeom>
          <a:solidFill>
            <a:srgbClr val="CEDEFB">
              <a:alpha val="1998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600000" dist="19050">
              <a:srgbClr val="00FFFF">
                <a:alpha val="40000"/>
              </a:srgbClr>
            </a:outerShdw>
            <a:reflection blurRad="0" dir="5400000" dist="38100" endA="0" endPos="30000" fadeDir="5400012" kx="0" rotWithShape="0" algn="bl" stA="4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693925" y="6406808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-1" y="6354762"/>
            <a:ext cx="12192001" cy="50323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>
            <p:ph type="title"/>
          </p:nvPr>
        </p:nvSpPr>
        <p:spPr>
          <a:xfrm>
            <a:off x="1673350" y="-101125"/>
            <a:ext cx="82209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/>
          </a:p>
        </p:txBody>
      </p:sp>
      <p:pic>
        <p:nvPicPr>
          <p:cNvPr descr="Picture 1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4827" y="-22244"/>
            <a:ext cx="1913087" cy="903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6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121" name="Google Shape;121;p16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pic>
        <p:nvPicPr>
          <p:cNvPr descr="c6193514-61d4-40dc-9c5b-2d1062c57a86.jp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815" y="849183"/>
            <a:ext cx="5914327" cy="3303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c1407b0-1d25-45ed-b51a-c6367bcb3aeb.jp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277" y="4221870"/>
            <a:ext cx="5953362" cy="206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abed7f9-045f-4156-9f4f-f4d81940d006.jp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11440"/>
          <a:stretch/>
        </p:blipFill>
        <p:spPr>
          <a:xfrm>
            <a:off x="6848947" y="1385564"/>
            <a:ext cx="4939010" cy="490034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854446" y="808741"/>
            <a:ext cx="3269952" cy="601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1"/>
              <a:buFont typeface="Times New Roman"/>
              <a:buNone/>
            </a:pPr>
            <a:r>
              <a:rPr b="1" i="0" lang="en-US" sz="220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Strategies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678550" y="6468233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0" y="6383625"/>
            <a:ext cx="12192000" cy="474301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609600" y="-46000"/>
            <a:ext cx="10972800" cy="72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11393642" y="6465752"/>
            <a:ext cx="188859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/>
          </a:p>
        </p:txBody>
      </p:sp>
      <p:pic>
        <p:nvPicPr>
          <p:cNvPr descr="Google Shape;330;p5" id="136" name="Google Shape;136;p17"/>
          <p:cNvPicPr preferRelativeResize="0"/>
          <p:nvPr/>
        </p:nvPicPr>
        <p:blipFill rotWithShape="1">
          <a:blip r:embed="rId3">
            <a:alphaModFix/>
          </a:blip>
          <a:srcRect b="15400" l="18347" r="9175" t="15400"/>
          <a:stretch/>
        </p:blipFill>
        <p:spPr>
          <a:xfrm>
            <a:off x="2281919" y="5385264"/>
            <a:ext cx="1414093" cy="962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331;p5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838099" y="5389199"/>
            <a:ext cx="1088221" cy="962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332;p5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4591" y="4806476"/>
            <a:ext cx="1354200" cy="1157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333;p5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72434" y="4909232"/>
            <a:ext cx="1231274" cy="1051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3235" y="-42564"/>
            <a:ext cx="1673886" cy="7903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7"/>
          <p:cNvGrpSpPr/>
          <p:nvPr/>
        </p:nvGrpSpPr>
        <p:grpSpPr>
          <a:xfrm>
            <a:off x="186030" y="183142"/>
            <a:ext cx="1831529" cy="656465"/>
            <a:chOff x="-1" y="0"/>
            <a:chExt cx="1831529" cy="656465"/>
          </a:xfrm>
        </p:grpSpPr>
        <p:sp>
          <p:nvSpPr>
            <p:cNvPr id="142" name="Google Shape;142;p17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graphicFrame>
        <p:nvGraphicFramePr>
          <p:cNvPr id="144" name="Google Shape;144;p17"/>
          <p:cNvGraphicFramePr/>
          <p:nvPr/>
        </p:nvGraphicFramePr>
        <p:xfrm>
          <a:off x="372814" y="1099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{5E4C9022-57C1-4CEA-9898-AF8987066F9A}</a:tableStyleId>
              </a:tblPr>
              <a:tblGrid>
                <a:gridCol w="1887175"/>
                <a:gridCol w="1282425"/>
                <a:gridCol w="1061350"/>
                <a:gridCol w="1196150"/>
                <a:gridCol w="1024000"/>
              </a:tblGrid>
              <a:tr h="59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Feature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Mausam (Our Solution)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AccuWeather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Weather Channel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Google Weather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Personalized Homepage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 AI-based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 Limited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 Limited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 Basic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User Persona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Adaptive Widgets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Hyperlocal Weather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Persona-based Alerts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Severe Weather Proximity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Offline Support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✅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⚠️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India-focused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0" lang="en-US" sz="1200" u="none" cap="none" strike="noStrike"/>
                        <a:t>✅ </a:t>
                      </a:r>
                      <a:r>
                        <a:rPr b="1"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IMD/Mausam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lang="en-US" sz="1200" u="none" cap="none" strike="noStrike">
                          <a:latin typeface="Times"/>
                          <a:ea typeface="Times"/>
                          <a:cs typeface="Times"/>
                          <a:sym typeface="Times"/>
                        </a:rPr>
                        <a:t>❌</a:t>
                      </a:r>
                      <a:endParaRPr/>
                    </a:p>
                  </a:txBody>
                  <a:tcPr marT="12700" marB="12700" marR="12700" marL="12700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PHOTO-2026-09-03-00-09-29.jpg" id="145" name="Google Shape;14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59201" y="1380272"/>
            <a:ext cx="5113568" cy="3409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048700" y="1284650"/>
            <a:ext cx="6966600" cy="4806300"/>
          </a:xfrm>
          <a:prstGeom prst="roundRect">
            <a:avLst>
              <a:gd fmla="val 16667" name="adj"/>
            </a:avLst>
          </a:prstGeom>
          <a:solidFill>
            <a:srgbClr val="CEDEFB">
              <a:alpha val="1998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FFFF">
                <a:alpha val="40000"/>
              </a:srgbClr>
            </a:outerShdw>
            <a:reflection blurRad="0" dir="5400000" dist="38100" endA="0" endPos="30000" fadeDir="5400012" kx="0" rotWithShape="0" algn="bl" stA="4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133100" y="2999313"/>
            <a:ext cx="4818300" cy="3177900"/>
          </a:xfrm>
          <a:prstGeom prst="roundRect">
            <a:avLst>
              <a:gd fmla="val 16667" name="adj"/>
            </a:avLst>
          </a:prstGeom>
          <a:solidFill>
            <a:srgbClr val="CEDEFB">
              <a:alpha val="19980"/>
            </a:srgbClr>
          </a:solidFill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6600000" dist="19050">
              <a:srgbClr val="00FFFF">
                <a:alpha val="40000"/>
              </a:srgbClr>
            </a:outerShdw>
            <a:reflection blurRad="0" dir="5400000" dist="38100" endA="0" endPos="30000" fadeDir="5400012" kx="0" rotWithShape="0" algn="bl" stA="4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4693925" y="6406808"/>
            <a:ext cx="3112551" cy="2642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0" y="6404325"/>
            <a:ext cx="12192000" cy="4536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4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>
            <p:ph type="title"/>
          </p:nvPr>
        </p:nvSpPr>
        <p:spPr>
          <a:xfrm>
            <a:off x="5383836" y="641778"/>
            <a:ext cx="59289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7"/>
              <a:buFont typeface="Times New Roman"/>
              <a:buNone/>
            </a:pPr>
            <a:r>
              <a:rPr b="1" lang="en-US" sz="3007" u="sng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u="sng"/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11393542" y="6404315"/>
            <a:ext cx="188858" cy="26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lang="en-US">
                <a:solidFill>
                  <a:srgbClr val="FFFFFF"/>
                </a:solidFill>
              </a:rPr>
              <a:t>‹#›</a:t>
            </a:fld>
            <a:endParaRPr/>
          </a:p>
        </p:txBody>
      </p:sp>
      <p:pic>
        <p:nvPicPr>
          <p:cNvPr descr="Picture 1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0544" y="-31860"/>
            <a:ext cx="1769701" cy="835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8"/>
          <p:cNvGrpSpPr/>
          <p:nvPr/>
        </p:nvGrpSpPr>
        <p:grpSpPr>
          <a:xfrm>
            <a:off x="133105" y="113929"/>
            <a:ext cx="1831531" cy="656467"/>
            <a:chOff x="-1" y="0"/>
            <a:chExt cx="1831529" cy="656465"/>
          </a:xfrm>
        </p:grpSpPr>
        <p:sp>
          <p:nvSpPr>
            <p:cNvPr id="159" name="Google Shape;159;p18"/>
            <p:cNvSpPr/>
            <p:nvPr/>
          </p:nvSpPr>
          <p:spPr>
            <a:xfrm>
              <a:off x="-1" y="0"/>
              <a:ext cx="1831529" cy="65646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324865" y="5957"/>
              <a:ext cx="1181798" cy="644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675" lIns="45675" spcFirstLastPara="1" rIns="45675" wrap="square" tIns="456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BugNot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Found</a:t>
              </a:r>
              <a:endParaRPr/>
            </a:p>
          </p:txBody>
        </p:sp>
      </p:grpSp>
      <p:sp>
        <p:nvSpPr>
          <p:cNvPr id="161" name="Google Shape;161;p18"/>
          <p:cNvSpPr txBox="1"/>
          <p:nvPr/>
        </p:nvSpPr>
        <p:spPr>
          <a:xfrm>
            <a:off x="199702" y="3041109"/>
            <a:ext cx="46851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"/>
              <a:buNone/>
            </a:pPr>
            <a:r>
              <a:rPr b="1" lang="en-US" sz="20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Business Model</a:t>
            </a:r>
            <a:endParaRPr sz="17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B2G: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Partnership with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IMD &amp; Government departments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for public weather services.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B2B: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Weather insights/API services for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agriculture, logistics, tourism &amp; disaster-management organizations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Freemium: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Free personalized weather +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premium advanced insights/features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API Licensing: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Provide weather-personalization APIs to third-party apps.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Sponsored Alerts: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Relevant, non-intrusive location-based promotions.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Data Insights: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Anonymized &amp; aggregated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weather-usage analytics for organizations.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275200" y="1557125"/>
            <a:ext cx="66345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Persona-Driven Weather Customization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Stamoulis &amp; Giannopoulos (2022),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"My personal forecast": the digital transformation of the weather forecast communication using a fuzzy logic recommendation system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[cite: Stamoulis, D. S., &amp; Giannopoulos, P. A. (2022). “My personal forecast”: the digital transformation of the weather forecast communication using a fuzzy logic recommendation system. Advances in Science and Research, 19, 9–12.].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Usage: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Proves the effectiveness of shifting from generic dashboards to tailored, fuzzy-logic-based weather recommendations.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Cognitive Load &amp; Usability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Eachus &amp; Keim (2019),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Users’ Perceptions of Smartphone Weather Applications’ Usability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Usage: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Highlights how filtering out non-essential parameters reduces clutter and improves quick decision-making during severe weather.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Context-Aware Recommender Systems (CARS)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Reference: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Ricci, Rokach, &amp; Shapira (2015), </a:t>
            </a: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Recommender Systems Handbook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(Springer).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Char char="➢"/>
            </a:pPr>
            <a:r>
              <a:rPr b="0" i="1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Usage: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Provides the architectural backbone for dynamically changing the UI based on real-time location, time, and user persona.</a:t>
            </a:r>
            <a:endParaRPr/>
          </a:p>
        </p:txBody>
      </p:sp>
      <p:pic>
        <p:nvPicPr>
          <p:cNvPr descr="book icon vector. Isolated contour symbol illustration (provided by Getty Images)" id="163" name="Google Shape;16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200" y="5033488"/>
            <a:ext cx="382177" cy="382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 icon vector. Isolated contour symbol illustration (provided by Getty Images)" id="164" name="Google Shape;16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200" y="1760838"/>
            <a:ext cx="382177" cy="382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ok icon vector. Isolated contour symbol illustration (provided by Getty Images)" id="165" name="Google Shape;16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5200" y="3660205"/>
            <a:ext cx="382177" cy="382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title="WhatsApp Image 2026-09-18 at 20.14.39.jpeg"/>
          <p:cNvPicPr preferRelativeResize="0"/>
          <p:nvPr/>
        </p:nvPicPr>
        <p:blipFill rotWithShape="1">
          <a:blip r:embed="rId5">
            <a:alphaModFix/>
          </a:blip>
          <a:srcRect b="41585" l="0" r="51355" t="27597"/>
          <a:stretch/>
        </p:blipFill>
        <p:spPr>
          <a:xfrm>
            <a:off x="199700" y="891200"/>
            <a:ext cx="4685100" cy="20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