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embeddedFontLst>
    <p:embeddedFont>
      <p:font typeface="Garamond"/>
      <p:regular r:id="rId32"/>
      <p:bold r:id="rId33"/>
      <p:italic r:id="rId34"/>
      <p:boldItalic r:id="rId35"/>
    </p:embeddedFont>
    <p:embeddedFont>
      <p:font typeface="Oswald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irLZ1Sb7AswHZSO3xECBy/qa5/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881950-6C25-457D-8F49-F5F877C6361B}">
  <a:tblStyle styleId="{D3881950-6C25-457D-8F49-F5F877C636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Garamond-bold.fntdata"/><Relationship Id="rId10" Type="http://schemas.openxmlformats.org/officeDocument/2006/relationships/slide" Target="slides/slide4.xml"/><Relationship Id="rId32" Type="http://schemas.openxmlformats.org/officeDocument/2006/relationships/font" Target="fonts/Garamond-regular.fntdata"/><Relationship Id="rId13" Type="http://schemas.openxmlformats.org/officeDocument/2006/relationships/slide" Target="slides/slide7.xml"/><Relationship Id="rId35" Type="http://schemas.openxmlformats.org/officeDocument/2006/relationships/font" Target="fonts/Garamond-boldItalic.fntdata"/><Relationship Id="rId12" Type="http://schemas.openxmlformats.org/officeDocument/2006/relationships/slide" Target="slides/slide6.xml"/><Relationship Id="rId34" Type="http://schemas.openxmlformats.org/officeDocument/2006/relationships/font" Target="fonts/Garamond-italic.fntdata"/><Relationship Id="rId15" Type="http://schemas.openxmlformats.org/officeDocument/2006/relationships/slide" Target="slides/slide9.xml"/><Relationship Id="rId37" Type="http://schemas.openxmlformats.org/officeDocument/2006/relationships/font" Target="fonts/Oswald-bold.fntdata"/><Relationship Id="rId14" Type="http://schemas.openxmlformats.org/officeDocument/2006/relationships/slide" Target="slides/slide8.xml"/><Relationship Id="rId36" Type="http://schemas.openxmlformats.org/officeDocument/2006/relationships/font" Target="fonts/Oswald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e6a398865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e6a39886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ae6a398865_0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6a398865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e6a39886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ae6a398865_0_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e6a398865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e6a39886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ae6a398865_0_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e6a398865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e6a39886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ae6a398865_0_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e6a398865_0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e6a39886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ae6a398865_0_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e6a398865_0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e6a39886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ae6a398865_0_7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e6a398865_0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e6a39886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ae6a398865_0_8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e6a398865_0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e6a39886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ae6a398865_0_8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e6a398865_0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e6a39886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ae6a398865_0_10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e6a398865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e6a39886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ae6a398865_0_10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e6a398865_0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e6a39886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ae6a398865_0_1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e6a398865_0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e6a398865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ae6a398865_0_9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e6a398865_0_1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ae6a39886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ae6a398865_0_1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e6a398865_0_1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e6a39886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ae6a398865_0_1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e6a398865_0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e6a39886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ae6a398865_0_1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e6a398865_0_1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e6a398865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ae6a398865_0_15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e6a398865_0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ae6a398865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ae6a398865_0_1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e6a398865_0_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e6a398865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ae6a398865_0_1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e6a398865_0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ae6a398865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ae6a398865_0_17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2" name="Google Shape;2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6" name="Google Shape;3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1" name="Google Shape;3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youtu.be/BARvEvkGaPU" TargetMode="Externa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18.png"/><Relationship Id="rId13" Type="http://schemas.openxmlformats.org/officeDocument/2006/relationships/image" Target="../media/image11.png"/><Relationship Id="rId1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9" Type="http://schemas.openxmlformats.org/officeDocument/2006/relationships/image" Target="../media/image9.png"/><Relationship Id="rId15" Type="http://schemas.openxmlformats.org/officeDocument/2006/relationships/image" Target="../media/image13.png"/><Relationship Id="rId1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5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5.png"/><Relationship Id="rId6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oracle.com/erp/what-is-erp/erp-implementation-case-study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41.jpg"/><Relationship Id="rId5" Type="http://schemas.openxmlformats.org/officeDocument/2006/relationships/image" Target="../media/image40.jpg"/><Relationship Id="rId6" Type="http://schemas.openxmlformats.org/officeDocument/2006/relationships/image" Target="../media/image39.jpg"/><Relationship Id="rId7" Type="http://schemas.openxmlformats.org/officeDocument/2006/relationships/image" Target="../media/image42.jpg"/><Relationship Id="rId8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140405" y="851508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8362816" y="1875418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331286" y="-5267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75" y="1797025"/>
            <a:ext cx="70806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</a:t>
            </a:r>
            <a:r>
              <a:rPr lang="en-US" sz="2000">
                <a:solidFill>
                  <a:srgbClr val="0070C0"/>
                </a:solidFill>
              </a:rPr>
              <a:t>SIH25103</a:t>
            </a:r>
            <a:endParaRPr sz="2000">
              <a:solidFill>
                <a:srgbClr val="0070C0"/>
              </a:solidFill>
            </a:endParaRPr>
          </a:p>
          <a:p>
            <a:pPr indent="-2603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 - </a:t>
            </a:r>
            <a:r>
              <a:rPr lang="en-US" sz="2000">
                <a:solidFill>
                  <a:srgbClr val="0070C0"/>
                </a:solidFill>
                <a:highlight>
                  <a:srgbClr val="FFFFFF"/>
                </a:highlight>
              </a:rPr>
              <a:t>ERP-based Integrated Student    Management system</a:t>
            </a:r>
            <a:endParaRPr sz="2000">
              <a:solidFill>
                <a:srgbClr val="0070C0"/>
              </a:solidFill>
            </a:endParaRPr>
          </a:p>
          <a:p>
            <a:pPr indent="-2603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lang="en-US" sz="2000">
                <a:solidFill>
                  <a:srgbClr val="0070C0"/>
                </a:solidFill>
                <a:highlight>
                  <a:schemeClr val="lt1"/>
                </a:highlight>
              </a:rPr>
              <a:t>Smart Automation</a:t>
            </a:r>
            <a:endParaRPr sz="2000">
              <a:solidFill>
                <a:srgbClr val="0070C0"/>
              </a:solidFill>
              <a:highlight>
                <a:schemeClr val="lt1"/>
              </a:highlight>
            </a:endParaRPr>
          </a:p>
          <a:p>
            <a:pPr indent="-2603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 - </a:t>
            </a:r>
            <a:r>
              <a:rPr lang="en-US" sz="2000">
                <a:solidFill>
                  <a:srgbClr val="0070C0"/>
                </a:solidFill>
              </a:rPr>
              <a:t>Software</a:t>
            </a:r>
            <a:endParaRPr sz="2000">
              <a:solidFill>
                <a:srgbClr val="0070C0"/>
              </a:solidFill>
            </a:endParaRPr>
          </a:p>
          <a:p>
            <a:pPr indent="-2603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 -</a:t>
            </a:r>
            <a:r>
              <a:rPr b="1"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rgbClr val="0070C0"/>
                </a:solidFill>
              </a:rPr>
              <a:t>84258</a:t>
            </a:r>
            <a:endParaRPr sz="2000"/>
          </a:p>
          <a:p>
            <a:pPr indent="-2603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(Registered on portal) - </a:t>
            </a:r>
            <a:r>
              <a:rPr b="1" lang="en-US" sz="2000">
                <a:solidFill>
                  <a:srgbClr val="0070C0"/>
                </a:solidFill>
              </a:rPr>
              <a:t>BUDDHI</a:t>
            </a:r>
            <a:endParaRPr sz="2000">
              <a:solidFill>
                <a:srgbClr val="0070C0"/>
              </a:solidFill>
            </a:endParaRPr>
          </a:p>
        </p:txBody>
      </p:sp>
      <p:pic>
        <p:nvPicPr>
          <p:cNvPr descr="https://www.sih.gov.in/img1/SIH-Logo.png"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1972500" y="-123162"/>
            <a:ext cx="7915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highlight>
                  <a:schemeClr val="lt1"/>
                </a:highlight>
                <a:latin typeface="Garamond"/>
                <a:ea typeface="Garamond"/>
                <a:cs typeface="Garamond"/>
                <a:sym typeface="Garamond"/>
              </a:rPr>
              <a:t>BUDDHI</a:t>
            </a:r>
            <a:endParaRPr b="1" sz="40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2" name="Google Shape;102;p2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3" name="Google Shape;103;p2"/>
          <p:cNvSpPr/>
          <p:nvPr/>
        </p:nvSpPr>
        <p:spPr>
          <a:xfrm>
            <a:off x="154925" y="0"/>
            <a:ext cx="1889100" cy="6771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BUDDHI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88300" y="0"/>
            <a:ext cx="2050550" cy="73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" y="6356349"/>
            <a:ext cx="12192000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4750200" y="63542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@SIH Idea submission- Template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1311850" y="6354275"/>
            <a:ext cx="62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2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2427600" y="873875"/>
            <a:ext cx="2347800" cy="2245800"/>
          </a:xfrm>
          <a:prstGeom prst="roundRect">
            <a:avLst>
              <a:gd fmla="val 8242" name="adj"/>
            </a:avLst>
          </a:prstGeom>
          <a:solidFill>
            <a:srgbClr val="CCDDFC">
              <a:alpha val="67060"/>
            </a:srgbClr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Unified ERP System</a:t>
            </a:r>
            <a:r>
              <a:rPr lang="en-US">
                <a:solidFill>
                  <a:schemeClr val="dk1"/>
                </a:solidFill>
              </a:rPr>
              <a:t> integrating: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-US">
                <a:solidFill>
                  <a:schemeClr val="dk1"/>
                </a:solidFill>
              </a:rPr>
              <a:t>   Admissions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-US">
                <a:solidFill>
                  <a:schemeClr val="dk1"/>
                </a:solidFill>
              </a:rPr>
              <a:t>   Fees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-US">
                <a:solidFill>
                  <a:schemeClr val="dk1"/>
                </a:solidFill>
              </a:rPr>
              <a:t>   Hostel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-US">
                <a:solidFill>
                  <a:schemeClr val="dk1"/>
                </a:solidFill>
              </a:rPr>
              <a:t>   Exams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-US">
                <a:solidFill>
                  <a:schemeClr val="dk1"/>
                </a:solidFill>
              </a:rPr>
              <a:t>   Library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2427600" y="3205000"/>
            <a:ext cx="4389300" cy="2317500"/>
          </a:xfrm>
          <a:prstGeom prst="roundRect">
            <a:avLst>
              <a:gd fmla="val 6489" name="adj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3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 How It Addresses the Problem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3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Char char="❖"/>
            </a:pPr>
            <a:r>
              <a:rPr b="1" lang="en-US" sz="1200">
                <a:solidFill>
                  <a:schemeClr val="dk1"/>
                </a:solidFill>
              </a:rPr>
              <a:t>Eliminates inefficiencies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3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Char char="➢"/>
            </a:pPr>
            <a:r>
              <a:rPr lang="en-US" sz="1200">
                <a:solidFill>
                  <a:schemeClr val="dk1"/>
                </a:solidFill>
              </a:rPr>
              <a:t>Removes data duplication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3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Char char="➢"/>
            </a:pPr>
            <a:r>
              <a:rPr lang="en-US" sz="1200">
                <a:solidFill>
                  <a:schemeClr val="dk1"/>
                </a:solidFill>
              </a:rPr>
              <a:t>Reduces manual effort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3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Char char="❖"/>
            </a:pPr>
            <a:r>
              <a:rPr b="1" lang="en-US" sz="1200">
                <a:solidFill>
                  <a:schemeClr val="dk1"/>
                </a:solidFill>
              </a:rPr>
              <a:t>Improves decision-making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3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Char char="➢"/>
            </a:pPr>
            <a:r>
              <a:rPr lang="en-US" sz="1200">
                <a:solidFill>
                  <a:schemeClr val="dk1"/>
                </a:solidFill>
              </a:rPr>
              <a:t>Real-time insights &amp; reports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3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Char char="❖"/>
            </a:pPr>
            <a:r>
              <a:rPr b="1" lang="en-US" sz="1200">
                <a:solidFill>
                  <a:schemeClr val="dk1"/>
                </a:solidFill>
              </a:rPr>
              <a:t>Affordable Solution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3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200"/>
              <a:buChar char="➢"/>
            </a:pPr>
            <a:r>
              <a:rPr lang="en-US" sz="1200">
                <a:solidFill>
                  <a:schemeClr val="dk1"/>
                </a:solidFill>
              </a:rPr>
              <a:t>Low-cost alternative to expensive ERP suites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929474" y="3205000"/>
            <a:ext cx="2811600" cy="2317500"/>
          </a:xfrm>
          <a:prstGeom prst="roundRect">
            <a:avLst>
              <a:gd fmla="val 8790" name="adj"/>
            </a:avLst>
          </a:prstGeom>
          <a:solidFill>
            <a:srgbClr val="CCDDFC">
              <a:alpha val="67060"/>
            </a:srgbClr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Single Secure Database</a:t>
            </a:r>
            <a:r>
              <a:rPr lang="en-US">
                <a:solidFill>
                  <a:schemeClr val="dk1"/>
                </a:solidFill>
              </a:rPr>
              <a:t> with</a:t>
            </a:r>
            <a:r>
              <a:rPr b="1" lang="en-US">
                <a:solidFill>
                  <a:schemeClr val="dk1"/>
                </a:solidFill>
              </a:rPr>
              <a:t>: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❖"/>
            </a:pPr>
            <a:r>
              <a:rPr lang="en-US" sz="1200">
                <a:solidFill>
                  <a:schemeClr val="dk1"/>
                </a:solidFill>
              </a:rPr>
              <a:t>Automated workflows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❖"/>
            </a:pPr>
            <a:r>
              <a:rPr lang="en-US" sz="1200">
                <a:solidFill>
                  <a:schemeClr val="dk1"/>
                </a:solidFill>
              </a:rPr>
              <a:t>Role-based dashboards (Student / Faculty / Admin)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❖"/>
            </a:pPr>
            <a:r>
              <a:rPr lang="en-US" sz="1200">
                <a:solidFill>
                  <a:schemeClr val="dk1"/>
                </a:solidFill>
              </a:rPr>
              <a:t>Encrypted transactions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❖"/>
            </a:pPr>
            <a:r>
              <a:rPr lang="en-US" sz="1200">
                <a:solidFill>
                  <a:schemeClr val="dk1"/>
                </a:solidFill>
              </a:rPr>
              <a:t>Regular backups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4886775" y="873875"/>
            <a:ext cx="4854300" cy="2245800"/>
          </a:xfrm>
          <a:prstGeom prst="roundRect">
            <a:avLst>
              <a:gd fmla="val 5834" name="adj"/>
            </a:avLst>
          </a:prstGeom>
          <a:solidFill>
            <a:schemeClr val="lt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   </a:t>
            </a:r>
            <a:r>
              <a:rPr b="1" lang="en-US">
                <a:solidFill>
                  <a:schemeClr val="dk1"/>
                </a:solidFill>
              </a:rPr>
              <a:t>Innovation &amp; Uniqueness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Char char="❖"/>
            </a:pPr>
            <a:r>
              <a:rPr b="1" lang="en-US" sz="1200">
                <a:solidFill>
                  <a:schemeClr val="dk1"/>
                </a:solidFill>
              </a:rPr>
              <a:t>AI-powered features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Char char="➢"/>
            </a:pPr>
            <a:r>
              <a:rPr lang="en-US" sz="1200">
                <a:solidFill>
                  <a:schemeClr val="dk1"/>
                </a:solidFill>
              </a:rPr>
              <a:t>Predictions for students at-risk of dropping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Char char="❖"/>
            </a:pPr>
            <a:r>
              <a:rPr b="1" lang="en-US" sz="1200">
                <a:solidFill>
                  <a:schemeClr val="dk1"/>
                </a:solidFill>
              </a:rPr>
              <a:t>Smart Support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Char char="➢"/>
            </a:pPr>
            <a:r>
              <a:rPr lang="en-US" sz="1200">
                <a:solidFill>
                  <a:schemeClr val="dk1"/>
                </a:solidFill>
              </a:rPr>
              <a:t>Integrated chatbot for instant query resolution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Char char="❖"/>
            </a:pPr>
            <a:r>
              <a:rPr b="1" lang="en-US" sz="1200">
                <a:solidFill>
                  <a:schemeClr val="dk1"/>
                </a:solidFill>
              </a:rPr>
              <a:t>Ease of Adoption</a:t>
            </a:r>
            <a:br>
              <a:rPr b="1" lang="en-US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Char char="➢"/>
            </a:pPr>
            <a:r>
              <a:rPr lang="en-US" sz="1200">
                <a:solidFill>
                  <a:schemeClr val="dk1"/>
                </a:solidFill>
              </a:rPr>
              <a:t>Low-cost deployment using familiar tools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30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200"/>
              <a:buChar char="➢"/>
            </a:pPr>
            <a:r>
              <a:rPr lang="en-US" sz="1200">
                <a:solidFill>
                  <a:schemeClr val="dk1"/>
                </a:solidFill>
              </a:rPr>
              <a:t>Ensures broad adoption across institutions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2357650" y="5673188"/>
            <a:ext cx="7295700" cy="530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Project demo video link</a:t>
            </a:r>
            <a:r>
              <a:rPr lang="en-US" sz="1200"/>
              <a:t> -   </a:t>
            </a:r>
            <a:r>
              <a:rPr lang="en-US" sz="1200" u="sng">
                <a:solidFill>
                  <a:schemeClr val="hlink"/>
                </a:solidFill>
                <a:hlinkClick r:id="rId5"/>
              </a:rPr>
              <a:t>https://youtu.be/BARvEvkGaPU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>
            <p:ph type="title"/>
          </p:nvPr>
        </p:nvSpPr>
        <p:spPr>
          <a:xfrm>
            <a:off x="624025" y="-22437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20" name="Google Shape;120;p3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1" name="Google Shape;121;p3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@SIH Idea submission- Template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Your startup LOGO" id="122" name="Google Shape;122;p3"/>
          <p:cNvSpPr/>
          <p:nvPr/>
        </p:nvSpPr>
        <p:spPr>
          <a:xfrm>
            <a:off x="394300" y="92863"/>
            <a:ext cx="18096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BUDDHI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www.sih.gov.in/img1/SIH-Logo.png" id="123" name="Google Shape;1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5345" y="-64924"/>
            <a:ext cx="1845532" cy="938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Expressjs.png - Wikimedia Commons" id="124" name="Google Shape;1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2550" y="1134974"/>
            <a:ext cx="1809600" cy="548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Node.js logo 2015.svg - Wikimedia Commons" id="125" name="Google Shape;12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3125" y="1900013"/>
            <a:ext cx="2035999" cy="471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MongoDB Logo.svg - Wikimedia Commons" id="126" name="Google Shape;126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1275" y="1800130"/>
            <a:ext cx="1333693" cy="5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AI logo by United Blasters.png - Wikimedia Commons" id="127" name="Google Shape;127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40387" y="2505890"/>
            <a:ext cx="807276" cy="807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python logo with a white circle in the middle on a white background . (Provided by Tenor)" id="128" name="Google Shape;128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4300" y="2526312"/>
            <a:ext cx="727275" cy="72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Nextjs-logo.svg - Wikipedia" id="129" name="Google Shape;129;p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9696" y="1109222"/>
            <a:ext cx="1466353" cy="37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React-icon.svg - Wikimedia Commons" id="130" name="Google Shape;130;p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03903" y="947825"/>
            <a:ext cx="775902" cy="620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Figma-dynamic-color.png - Wikimedia Commons" id="131" name="Google Shape;131;p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9700" y="1672726"/>
            <a:ext cx="807281" cy="807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re Concept flat vector web icon (Provided by Getty Images)" id="132" name="Google Shape;132;p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93110" y="2465775"/>
            <a:ext cx="868475" cy="8684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Tailwind CSS logo.svg - Wikimedia Commons" id="133" name="Google Shape;133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120188" y="3447374"/>
            <a:ext cx="2240891" cy="277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"/>
          <p:cNvPicPr preferRelativeResize="0"/>
          <p:nvPr/>
        </p:nvPicPr>
        <p:blipFill rotWithShape="1">
          <a:blip r:embed="rId14">
            <a:alphaModFix/>
          </a:blip>
          <a:srcRect b="10841" l="0" r="0" t="0"/>
          <a:stretch/>
        </p:blipFill>
        <p:spPr>
          <a:xfrm>
            <a:off x="5450325" y="873150"/>
            <a:ext cx="6741673" cy="538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Redis logo.svg - Wikimedia Commons" id="135" name="Google Shape;135;p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12488" y="3488438"/>
            <a:ext cx="1173228" cy="37294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 txBox="1"/>
          <p:nvPr/>
        </p:nvSpPr>
        <p:spPr>
          <a:xfrm>
            <a:off x="317025" y="4096238"/>
            <a:ext cx="42540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chemeClr val="dk1"/>
                </a:solidFill>
              </a:rPr>
              <a:t>Dataset Creation &amp; Annotation:</a:t>
            </a:r>
            <a:endParaRPr b="1" sz="1700" u="sng">
              <a:solidFill>
                <a:schemeClr val="dk1"/>
              </a:solidFill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260000" y="4438125"/>
            <a:ext cx="6191100" cy="18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lang="en-US" sz="1300">
                <a:solidFill>
                  <a:schemeClr val="dk1"/>
                </a:solidFill>
              </a:rPr>
              <a:t>Built a </a:t>
            </a:r>
            <a:r>
              <a:rPr b="1" lang="en-US" sz="1300">
                <a:solidFill>
                  <a:schemeClr val="dk1"/>
                </a:solidFill>
              </a:rPr>
              <a:t>self-curated dataset</a:t>
            </a:r>
            <a:r>
              <a:rPr lang="en-US" sz="1300">
                <a:solidFill>
                  <a:schemeClr val="dk1"/>
                </a:solidFill>
              </a:rPr>
              <a:t> of </a:t>
            </a:r>
            <a:r>
              <a:rPr b="1" lang="en-US" sz="1300">
                <a:solidFill>
                  <a:schemeClr val="dk1"/>
                </a:solidFill>
              </a:rPr>
              <a:t>501 student records</a:t>
            </a:r>
            <a:r>
              <a:rPr lang="en-US" sz="1300">
                <a:solidFill>
                  <a:schemeClr val="dk1"/>
                </a:solidFill>
              </a:rPr>
              <a:t>, annotated by 2 experts.</a:t>
            </a:r>
            <a:br>
              <a:rPr lang="en-U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lang="en-US" sz="1300">
                <a:solidFill>
                  <a:schemeClr val="dk1"/>
                </a:solidFill>
              </a:rPr>
              <a:t>Features include </a:t>
            </a:r>
            <a:r>
              <a:rPr b="1" lang="en-US" sz="1300">
                <a:solidFill>
                  <a:schemeClr val="dk1"/>
                </a:solidFill>
              </a:rPr>
              <a:t>attendance, CGPA, fees, and library time</a:t>
            </a:r>
            <a:r>
              <a:rPr lang="en-US" sz="1300">
                <a:solidFill>
                  <a:schemeClr val="dk1"/>
                </a:solidFill>
              </a:rPr>
              <a:t>.</a:t>
            </a:r>
            <a:br>
              <a:rPr lang="en-U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lang="en-US" sz="1300">
                <a:solidFill>
                  <a:schemeClr val="dk1"/>
                </a:solidFill>
              </a:rPr>
              <a:t>Students labeled as </a:t>
            </a:r>
            <a:r>
              <a:rPr b="1" lang="en-US" sz="1300">
                <a:solidFill>
                  <a:schemeClr val="dk1"/>
                </a:solidFill>
              </a:rPr>
              <a:t>“at-risk,” “on the verge,” or “normal.”</a:t>
            </a:r>
            <a:br>
              <a:rPr b="1" lang="en-US" sz="1300">
                <a:solidFill>
                  <a:schemeClr val="dk1"/>
                </a:solidFill>
              </a:rPr>
            </a:b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b="1" lang="en-US" sz="1300">
                <a:solidFill>
                  <a:schemeClr val="dk1"/>
                </a:solidFill>
              </a:rPr>
              <a:t>Fleiss’ Kappa = 0.68</a:t>
            </a:r>
            <a:r>
              <a:rPr lang="en-US" sz="1300">
                <a:solidFill>
                  <a:schemeClr val="dk1"/>
                </a:solidFill>
              </a:rPr>
              <a:t>, showing </a:t>
            </a:r>
            <a:r>
              <a:rPr b="1" lang="en-US" sz="1300">
                <a:solidFill>
                  <a:schemeClr val="dk1"/>
                </a:solidFill>
              </a:rPr>
              <a:t>substantial inter-annotator agreement</a:t>
            </a:r>
            <a:r>
              <a:rPr lang="en-US" sz="1300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e6a398865_0_42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4" name="Google Shape;144;g3ae6a398865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83850"/>
            <a:ext cx="11887200" cy="597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ae6a398865_0_42"/>
          <p:cNvSpPr txBox="1"/>
          <p:nvPr/>
        </p:nvSpPr>
        <p:spPr>
          <a:xfrm>
            <a:off x="394375" y="165300"/>
            <a:ext cx="3450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Dashboard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e6a398865_0_58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2" name="Google Shape;152;g3ae6a398865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41275"/>
            <a:ext cx="11887200" cy="57889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ae6a398865_0_58"/>
          <p:cNvSpPr txBox="1"/>
          <p:nvPr/>
        </p:nvSpPr>
        <p:spPr>
          <a:xfrm>
            <a:off x="339975" y="35175"/>
            <a:ext cx="66234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Hostel Management for Admin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e6a398865_0_49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0" name="Google Shape;160;g3ae6a398865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8350"/>
            <a:ext cx="11887200" cy="557309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ae6a398865_0_49"/>
          <p:cNvSpPr txBox="1"/>
          <p:nvPr/>
        </p:nvSpPr>
        <p:spPr>
          <a:xfrm>
            <a:off x="325325" y="196350"/>
            <a:ext cx="977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Financial Management and Automated Receipting for Admin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e6a398865_0_63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8" name="Google Shape;168;g3ae6a398865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25" y="870450"/>
            <a:ext cx="11887200" cy="559397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ae6a398865_0_63"/>
          <p:cNvSpPr txBox="1"/>
          <p:nvPr/>
        </p:nvSpPr>
        <p:spPr>
          <a:xfrm>
            <a:off x="442550" y="181700"/>
            <a:ext cx="79278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Attendance Management for Faculty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e6a398865_0_68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6" name="Google Shape;176;g3ae6a398865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6925"/>
            <a:ext cx="11887203" cy="56245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ae6a398865_0_68"/>
          <p:cNvSpPr txBox="1"/>
          <p:nvPr/>
        </p:nvSpPr>
        <p:spPr>
          <a:xfrm>
            <a:off x="222750" y="181700"/>
            <a:ext cx="7121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Student Management for Faculty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e6a398865_0_79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4" name="Google Shape;184;g3ae6a398865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046275"/>
            <a:ext cx="11887199" cy="555400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ae6a398865_0_79"/>
          <p:cNvSpPr txBox="1"/>
          <p:nvPr/>
        </p:nvSpPr>
        <p:spPr>
          <a:xfrm>
            <a:off x="545125" y="123100"/>
            <a:ext cx="69459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Study Material Management by Faculty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e6a398865_0_8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2" name="Google Shape;192;g3ae6a398865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650" y="826500"/>
            <a:ext cx="11887200" cy="562088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ae6a398865_0_84"/>
          <p:cNvSpPr txBox="1"/>
          <p:nvPr/>
        </p:nvSpPr>
        <p:spPr>
          <a:xfrm>
            <a:off x="281350" y="79125"/>
            <a:ext cx="65649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Notice uploaded by Faculty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e6a398865_0_89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0" name="Google Shape;200;g3ae6a398865_0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8750"/>
            <a:ext cx="11887200" cy="5609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ae6a398865_0_89"/>
          <p:cNvSpPr txBox="1"/>
          <p:nvPr/>
        </p:nvSpPr>
        <p:spPr>
          <a:xfrm>
            <a:off x="288475" y="122475"/>
            <a:ext cx="74838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Grade Card for Students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e6a398865_0_101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8" name="Google Shape;208;g3ae6a398865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4850"/>
            <a:ext cx="11887200" cy="558149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ae6a398865_0_101"/>
          <p:cNvSpPr txBox="1"/>
          <p:nvPr/>
        </p:nvSpPr>
        <p:spPr>
          <a:xfrm>
            <a:off x="138800" y="24500"/>
            <a:ext cx="80691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Admit Card for Student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e6a398865_0_106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6" name="Google Shape;216;g3ae6a398865_0_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5700"/>
            <a:ext cx="11887203" cy="560575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ae6a398865_0_106"/>
          <p:cNvSpPr txBox="1"/>
          <p:nvPr/>
        </p:nvSpPr>
        <p:spPr>
          <a:xfrm>
            <a:off x="424550" y="334725"/>
            <a:ext cx="73344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 Portal for Students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e6a398865_0_111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4" name="Google Shape;224;g3ae6a398865_0_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0150"/>
            <a:ext cx="11887199" cy="559691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ae6a398865_0_111"/>
          <p:cNvSpPr txBox="1"/>
          <p:nvPr/>
        </p:nvSpPr>
        <p:spPr>
          <a:xfrm>
            <a:off x="315675" y="307525"/>
            <a:ext cx="76608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Study Material for Students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e6a398865_0_9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2" name="Google Shape;232;g3ae6a398865_0_94"/>
          <p:cNvPicPr preferRelativeResize="0"/>
          <p:nvPr/>
        </p:nvPicPr>
        <p:blipFill rotWithShape="1">
          <a:blip r:embed="rId3">
            <a:alphaModFix/>
          </a:blip>
          <a:srcRect b="7519" l="0" r="0" t="-7520"/>
          <a:stretch/>
        </p:blipFill>
        <p:spPr>
          <a:xfrm>
            <a:off x="152400" y="947050"/>
            <a:ext cx="11887200" cy="577439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ae6a398865_0_94"/>
          <p:cNvSpPr txBox="1"/>
          <p:nvPr/>
        </p:nvSpPr>
        <p:spPr>
          <a:xfrm>
            <a:off x="302075" y="321125"/>
            <a:ext cx="7511100" cy="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Registration Portal for Students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e6a398865_0_140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0" name="Google Shape;240;g3ae6a398865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4400"/>
            <a:ext cx="11887203" cy="556196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ae6a398865_0_140"/>
          <p:cNvSpPr txBox="1"/>
          <p:nvPr/>
        </p:nvSpPr>
        <p:spPr>
          <a:xfrm>
            <a:off x="97975" y="46275"/>
            <a:ext cx="68037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Superadmin Dashboard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e6a398865_0_145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8" name="Google Shape;248;g3ae6a398865_0_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8175"/>
            <a:ext cx="11887199" cy="557817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ae6a398865_0_145"/>
          <p:cNvSpPr txBox="1"/>
          <p:nvPr/>
        </p:nvSpPr>
        <p:spPr>
          <a:xfrm>
            <a:off x="302075" y="46275"/>
            <a:ext cx="75111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College Registration by Superadmin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e6a398865_0_150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6" name="Google Shape;256;g3ae6a398865_0_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5225"/>
            <a:ext cx="11887203" cy="557447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ae6a398865_0_150"/>
          <p:cNvSpPr txBox="1"/>
          <p:nvPr/>
        </p:nvSpPr>
        <p:spPr>
          <a:xfrm>
            <a:off x="288475" y="73475"/>
            <a:ext cx="86679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Registered colleges as 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viewed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superadmin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e6a398865_0_155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4" name="Google Shape;264;g3ae6a398865_0_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77675"/>
            <a:ext cx="11887199" cy="556568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ae6a398865_0_155"/>
          <p:cNvSpPr txBox="1"/>
          <p:nvPr/>
        </p:nvSpPr>
        <p:spPr>
          <a:xfrm>
            <a:off x="261250" y="87075"/>
            <a:ext cx="7919400" cy="8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Superadmin Management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e6a398865_0_168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2" name="Google Shape;272;g3ae6a398865_0_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37775"/>
            <a:ext cx="11887203" cy="558187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ae6a398865_0_168"/>
          <p:cNvSpPr txBox="1"/>
          <p:nvPr/>
        </p:nvSpPr>
        <p:spPr>
          <a:xfrm>
            <a:off x="220425" y="59875"/>
            <a:ext cx="7851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Subadmin Dashboard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e6a398865_0_173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0" name="Google Shape;280;g3ae6a398865_0_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3525"/>
            <a:ext cx="11887199" cy="564626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ae6a398865_0_173"/>
          <p:cNvSpPr txBox="1"/>
          <p:nvPr/>
        </p:nvSpPr>
        <p:spPr>
          <a:xfrm>
            <a:off x="193225" y="141525"/>
            <a:ext cx="8137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 of students into the System by subadmin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e6a398865_0_178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8" name="Google Shape;288;g3ae6a398865_0_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6450"/>
            <a:ext cx="11887200" cy="557153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3ae6a398865_0_178"/>
          <p:cNvSpPr txBox="1"/>
          <p:nvPr/>
        </p:nvSpPr>
        <p:spPr>
          <a:xfrm>
            <a:off x="261250" y="114300"/>
            <a:ext cx="72525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details edited by Subadmin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"/>
          <p:cNvSpPr txBox="1"/>
          <p:nvPr>
            <p:ph type="title"/>
          </p:nvPr>
        </p:nvSpPr>
        <p:spPr>
          <a:xfrm>
            <a:off x="1673350" y="-101125"/>
            <a:ext cx="8220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297" name="Google Shape;297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8" name="Google Shape;298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submission- Template</a:t>
            </a:r>
            <a:endParaRPr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Your startup LOGO" id="299" name="Google Shape;299;p4"/>
          <p:cNvSpPr/>
          <p:nvPr/>
        </p:nvSpPr>
        <p:spPr>
          <a:xfrm>
            <a:off x="392300" y="58775"/>
            <a:ext cx="1734900" cy="8232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BUDDHI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www.sih.gov.in/img1/SIH-Logo.png" id="300" name="Google Shape;3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9675" y="-91074"/>
            <a:ext cx="2209100" cy="97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" title="Feasibility Analysis - visual selection (1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75" y="881975"/>
            <a:ext cx="6139474" cy="314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" title="Feasibility Analysis - visual selection (2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5600" y="788475"/>
            <a:ext cx="4768975" cy="534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2300" y="4031125"/>
            <a:ext cx="6084149" cy="210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 txBox="1"/>
          <p:nvPr>
            <p:ph type="title"/>
          </p:nvPr>
        </p:nvSpPr>
        <p:spPr>
          <a:xfrm>
            <a:off x="5060225" y="507150"/>
            <a:ext cx="66942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3900"/>
          </a:p>
        </p:txBody>
      </p:sp>
      <p:sp>
        <p:nvSpPr>
          <p:cNvPr id="311" name="Google Shape;311;p6"/>
          <p:cNvSpPr txBox="1"/>
          <p:nvPr/>
        </p:nvSpPr>
        <p:spPr>
          <a:xfrm>
            <a:off x="5003625" y="1233100"/>
            <a:ext cx="70251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D. Zhang, "Deep Learning-Based Optimization of Cloud Enterprise Resource Planning (ERP) Systems for Adaptive Decision Support and Management Effectiveness Analysis," IEEE Access, vol. 12, pp. 177471-177482, 2024, doi: 10.1109/ACCESS.2024.3514879.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R. Al-Shabandar, A. Hussain, P. Liatsis, and R. Keight, "Detecting At-Risk Students With Early Interventions Using Machine Learning Techniques," IEEE Access, vol. 7, pp. 149464-149478, 2019, doi: 10.1109/ACCESS.2019.2943351.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L. Labadze, M. Grigolia, and L. Machaidze, "Role of AI chatbots in education: systematic literature review," Int. J. Educ. Technol. High. Educ., vol. 20, art. no. 56, Oct. 2023, doi: 10.1186/s41239-023-00426-1.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S. Tongsuksai, S. Mathrani, and K. Weerasinghe, "Influential Characteristics and Benefits of Cloud ERP Adoption in New Zealand SMEs: A Vendors' Perspective," IEEE Access, vol. 11, pp. 27514-27530, 2023, doi: 10.1109/ACCESS.2023.3259352.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"3 ERP Implementation Case Studies," Oracle Corp., Redwood Shores, CA, USA, Tech. Rep.,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Jan.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2023. [Online]. Available: 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https://www.oracle.com/erp/what-is-erp/erp-implementation-case-study/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J. L. Fleiss, 'Measuring nominal scale agreement among many raters,' Psychological Bulletin, vol. 76, no. 5, pp. 378-382, 1971.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Dhote, S. A., Jarad, R. S., Yadav, M., Suryavanshi, P., Bhavsar, D., &amp; Moholkar, N., “Study and Evaluate the Impact of ERP System Implementation on Student Performance,” International Journal of Research Publication &amp; Reviews, vol. 6, no. 4, pp. 7658–7667, Apr. 2025. DOI: 10.55248/gengpi.6.0425.14196.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Kumar, M., &amp; Garg, A., “Impact Of ERP Implementation In Higher Education In India — A Review,” 2020. (Review of ERP benefits, adoption barriers and outcomes).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13" name="Google Shape;313;p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submission- Template</a:t>
            </a:r>
            <a:endParaRPr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Your startup LOGO" id="314" name="Google Shape;314;p6"/>
          <p:cNvSpPr/>
          <p:nvPr/>
        </p:nvSpPr>
        <p:spPr>
          <a:xfrm>
            <a:off x="118100" y="0"/>
            <a:ext cx="1769700" cy="7719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BUDDHI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315" name="Google Shape;31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17953" y="-83126"/>
            <a:ext cx="1682050" cy="854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6"/>
          <p:cNvSpPr txBox="1"/>
          <p:nvPr/>
        </p:nvSpPr>
        <p:spPr>
          <a:xfrm>
            <a:off x="205100" y="3616988"/>
            <a:ext cx="45462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ASPECT</a:t>
            </a:r>
            <a:endParaRPr b="1" sz="3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6"/>
          <p:cNvSpPr txBox="1"/>
          <p:nvPr/>
        </p:nvSpPr>
        <p:spPr>
          <a:xfrm>
            <a:off x="118100" y="4217375"/>
            <a:ext cx="4453800" cy="24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 (India Education ERP): USD 0.8B in 2024, projected to USD 3.4B by 2030 (CAGR 27.7%).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 (Public HEIs): ~30K institutions; potential USD 0.5B (low-cost adoption at $15K avg./yr).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Revenue Model: SaaS subscription; $500-2K/institution/yr, scalable to 10% market share ($80M potential).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ROI: 30-50% cost savings for colleges via automation; 2-3 yr payback.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6" title="erp di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100" y="838700"/>
            <a:ext cx="4366800" cy="286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"/>
          <p:cNvSpPr/>
          <p:nvPr/>
        </p:nvSpPr>
        <p:spPr>
          <a:xfrm>
            <a:off x="0" y="6383625"/>
            <a:ext cx="12192000" cy="4743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5"/>
          <p:cNvSpPr txBox="1"/>
          <p:nvPr>
            <p:ph type="title"/>
          </p:nvPr>
        </p:nvSpPr>
        <p:spPr>
          <a:xfrm>
            <a:off x="609600" y="-46000"/>
            <a:ext cx="109728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326" name="Google Shape;326;p5"/>
          <p:cNvSpPr txBox="1"/>
          <p:nvPr>
            <p:ph idx="12" type="sldNum"/>
          </p:nvPr>
        </p:nvSpPr>
        <p:spPr>
          <a:xfrm>
            <a:off x="8737600" y="641780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27" name="Google Shape;327;p5"/>
          <p:cNvSpPr txBox="1"/>
          <p:nvPr>
            <p:ph idx="11" type="ftr"/>
          </p:nvPr>
        </p:nvSpPr>
        <p:spPr>
          <a:xfrm>
            <a:off x="4632825" y="6417791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submission- Template</a:t>
            </a:r>
            <a:endParaRPr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Your startup LOGO" id="328" name="Google Shape;328;p5"/>
          <p:cNvSpPr/>
          <p:nvPr/>
        </p:nvSpPr>
        <p:spPr>
          <a:xfrm>
            <a:off x="323200" y="29675"/>
            <a:ext cx="1859700" cy="6459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BUDDHI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www.sih.gov.in/img1/SIH-Logo.png" id="329" name="Google Shape;3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175" y="-35925"/>
            <a:ext cx="2209100" cy="72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duate Student with completed document. Vector icon isolated on round (Provided by Getty Images)" id="330" name="Google Shape;33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775" y="4992799"/>
            <a:ext cx="1951099" cy="1390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sultant glyph solid icon. Solid icon that can be applied anywhere, simple, pixel perfect and modern style. (Provided by Getty Images)" id="331" name="Google Shape;33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663229" y="4992800"/>
            <a:ext cx="1572623" cy="1390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fe on land color icon. Corporate social responsibility. (Provided by Getty Images)" id="332" name="Google Shape;332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96948" y="5109413"/>
            <a:ext cx="1354199" cy="1157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ield security with lock icon. Protection, safety, password security icon. Firewall access privacy sign. Lock security icon for login page. Website guard emblem. (Provided by Getty Images)" id="333" name="Google Shape;333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40062" y="5162513"/>
            <a:ext cx="1231273" cy="10513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5"/>
          <p:cNvGraphicFramePr/>
          <p:nvPr/>
        </p:nvGraphicFramePr>
        <p:xfrm>
          <a:off x="5443388" y="67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{D3881950-6C25-457D-8F49-F5F877C6361B}</a:tableStyleId>
              </a:tblPr>
              <a:tblGrid>
                <a:gridCol w="941875"/>
                <a:gridCol w="1126275"/>
                <a:gridCol w="803600"/>
                <a:gridCol w="926525"/>
                <a:gridCol w="742200"/>
                <a:gridCol w="926575"/>
                <a:gridCol w="1175350"/>
              </a:tblGrid>
              <a:tr h="867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Website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AI-Powered Student Risk Prediction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Chatbot Support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Instant Digital Receipts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Low-Cost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Fully Paperless Workflows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 Deployment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BUDDHI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Oracle ERP Cloud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✅(AI/ML but enterprise focus)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❌(complex setup)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9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Samarth (UGC ERP)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⚠️(basic online fees, not instant)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⚠️(partly digital)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Fedena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35" name="Google Shape;335;p5"/>
          <p:cNvPicPr preferRelativeResize="0"/>
          <p:nvPr/>
        </p:nvPicPr>
        <p:blipFill rotWithShape="1">
          <a:blip r:embed="rId8">
            <a:alphaModFix/>
          </a:blip>
          <a:srcRect b="0" l="8825" r="11878" t="14339"/>
          <a:stretch/>
        </p:blipFill>
        <p:spPr>
          <a:xfrm>
            <a:off x="256275" y="702350"/>
            <a:ext cx="4951749" cy="43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