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9"/>
  </p:notesMasterIdLst>
  <p:sldIdLst>
    <p:sldId id="291" r:id="rId2"/>
    <p:sldId id="281" r:id="rId3"/>
    <p:sldId id="290" r:id="rId4"/>
    <p:sldId id="293" r:id="rId5"/>
    <p:sldId id="294" r:id="rId6"/>
    <p:sldId id="296" r:id="rId7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BB59"/>
    <a:srgbClr val="39B0D4"/>
    <a:srgbClr val="727272"/>
    <a:srgbClr val="010000"/>
    <a:srgbClr val="FFA751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8" d="100"/>
          <a:sy n="68" d="100"/>
        </p:scale>
        <p:origin x="792" y="72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6/2/2026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0CA7B74D-3791-4AC6-8451-F10DBCCCDD9A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2062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35054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17228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8672725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6/2/2026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6/2/2026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6/2/2026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Relationship Id="rId4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Relationship Id="rId4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24">
            <a:extLst>
              <a:ext uri="{FF2B5EF4-FFF2-40B4-BE49-F238E27FC236}">
                <a16:creationId xmlns:a16="http://schemas.microsoft.com/office/drawing/2014/main" id="{3E443FD7-A66B-4AA0-872D-B088B9BC5F1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00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: Shape 26">
            <a:extLst>
              <a:ext uri="{FF2B5EF4-FFF2-40B4-BE49-F238E27FC236}">
                <a16:creationId xmlns:a16="http://schemas.microsoft.com/office/drawing/2014/main" id="{C04BE0EF-3561-49B4-9A29-F283168A91C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56780" y="851521"/>
            <a:ext cx="4638605" cy="5154967"/>
          </a:xfrm>
          <a:custGeom>
            <a:avLst/>
            <a:gdLst>
              <a:gd name="connsiteX0" fmla="*/ 363179 w 6184806"/>
              <a:gd name="connsiteY0" fmla="*/ 3125191 h 5154967"/>
              <a:gd name="connsiteX1" fmla="*/ 898270 w 6184806"/>
              <a:gd name="connsiteY1" fmla="*/ 3125191 h 5154967"/>
              <a:gd name="connsiteX2" fmla="*/ 980326 w 6184806"/>
              <a:gd name="connsiteY2" fmla="*/ 3173551 h 5154967"/>
              <a:gd name="connsiteX3" fmla="*/ 1248448 w 6184806"/>
              <a:gd name="connsiteY3" fmla="*/ 3635277 h 5154967"/>
              <a:gd name="connsiteX4" fmla="*/ 1248448 w 6184806"/>
              <a:gd name="connsiteY4" fmla="*/ 3729695 h 5154967"/>
              <a:gd name="connsiteX5" fmla="*/ 980326 w 6184806"/>
              <a:gd name="connsiteY5" fmla="*/ 4191421 h 5154967"/>
              <a:gd name="connsiteX6" fmla="*/ 898270 w 6184806"/>
              <a:gd name="connsiteY6" fmla="*/ 4239781 h 5154967"/>
              <a:gd name="connsiteX7" fmla="*/ 363179 w 6184806"/>
              <a:gd name="connsiteY7" fmla="*/ 4239781 h 5154967"/>
              <a:gd name="connsiteX8" fmla="*/ 279969 w 6184806"/>
              <a:gd name="connsiteY8" fmla="*/ 4191421 h 5154967"/>
              <a:gd name="connsiteX9" fmla="*/ 13002 w 6184806"/>
              <a:gd name="connsiteY9" fmla="*/ 3729695 h 5154967"/>
              <a:gd name="connsiteX10" fmla="*/ 13002 w 6184806"/>
              <a:gd name="connsiteY10" fmla="*/ 3635277 h 5154967"/>
              <a:gd name="connsiteX11" fmla="*/ 279969 w 6184806"/>
              <a:gd name="connsiteY11" fmla="*/ 3173551 h 5154967"/>
              <a:gd name="connsiteX12" fmla="*/ 363179 w 6184806"/>
              <a:gd name="connsiteY12" fmla="*/ 3125191 h 5154967"/>
              <a:gd name="connsiteX13" fmla="*/ 2489721 w 6184806"/>
              <a:gd name="connsiteY13" fmla="*/ 570035 h 5154967"/>
              <a:gd name="connsiteX14" fmla="*/ 2764862 w 6184806"/>
              <a:gd name="connsiteY14" fmla="*/ 570035 h 5154967"/>
              <a:gd name="connsiteX15" fmla="*/ 2796959 w 6184806"/>
              <a:gd name="connsiteY15" fmla="*/ 570035 h 5154967"/>
              <a:gd name="connsiteX16" fmla="*/ 2827587 w 6184806"/>
              <a:gd name="connsiteY16" fmla="*/ 622777 h 5154967"/>
              <a:gd name="connsiteX17" fmla="*/ 2977604 w 6184806"/>
              <a:gd name="connsiteY17" fmla="*/ 881117 h 5154967"/>
              <a:gd name="connsiteX18" fmla="*/ 2977604 w 6184806"/>
              <a:gd name="connsiteY18" fmla="*/ 1025720 h 5154967"/>
              <a:gd name="connsiteX19" fmla="*/ 2566968 w 6184806"/>
              <a:gd name="connsiteY19" fmla="*/ 1732863 h 5154967"/>
              <a:gd name="connsiteX20" fmla="*/ 2441299 w 6184806"/>
              <a:gd name="connsiteY20" fmla="*/ 1806927 h 5154967"/>
              <a:gd name="connsiteX21" fmla="*/ 1621798 w 6184806"/>
              <a:gd name="connsiteY21" fmla="*/ 1806927 h 5154967"/>
              <a:gd name="connsiteX22" fmla="*/ 1583218 w 6184806"/>
              <a:gd name="connsiteY22" fmla="*/ 1801802 h 5154967"/>
              <a:gd name="connsiteX23" fmla="*/ 1556683 w 6184806"/>
              <a:gd name="connsiteY23" fmla="*/ 1790677 h 5154967"/>
              <a:gd name="connsiteX24" fmla="*/ 1572899 w 6184806"/>
              <a:gd name="connsiteY24" fmla="*/ 1762630 h 5154967"/>
              <a:gd name="connsiteX25" fmla="*/ 2147429 w 6184806"/>
              <a:gd name="connsiteY25" fmla="*/ 768968 h 5154967"/>
              <a:gd name="connsiteX26" fmla="*/ 2489721 w 6184806"/>
              <a:gd name="connsiteY26" fmla="*/ 570035 h 5154967"/>
              <a:gd name="connsiteX27" fmla="*/ 1573268 w 6184806"/>
              <a:gd name="connsiteY27" fmla="*/ 0 h 5154967"/>
              <a:gd name="connsiteX28" fmla="*/ 2497662 w 6184806"/>
              <a:gd name="connsiteY28" fmla="*/ 0 h 5154967"/>
              <a:gd name="connsiteX29" fmla="*/ 2639415 w 6184806"/>
              <a:gd name="connsiteY29" fmla="*/ 83546 h 5154967"/>
              <a:gd name="connsiteX30" fmla="*/ 2887862 w 6184806"/>
              <a:gd name="connsiteY30" fmla="*/ 511387 h 5154967"/>
              <a:gd name="connsiteX31" fmla="*/ 2915928 w 6184806"/>
              <a:gd name="connsiteY31" fmla="*/ 559720 h 5154967"/>
              <a:gd name="connsiteX32" fmla="*/ 2893844 w 6184806"/>
              <a:gd name="connsiteY32" fmla="*/ 559720 h 5154967"/>
              <a:gd name="connsiteX33" fmla="*/ 2789466 w 6184806"/>
              <a:gd name="connsiteY33" fmla="*/ 559720 h 5154967"/>
              <a:gd name="connsiteX34" fmla="*/ 2744122 w 6184806"/>
              <a:gd name="connsiteY34" fmla="*/ 481634 h 5154967"/>
              <a:gd name="connsiteX35" fmla="*/ 2570885 w 6184806"/>
              <a:gd name="connsiteY35" fmla="*/ 183309 h 5154967"/>
              <a:gd name="connsiteX36" fmla="*/ 2445216 w 6184806"/>
              <a:gd name="connsiteY36" fmla="*/ 109243 h 5154967"/>
              <a:gd name="connsiteX37" fmla="*/ 1625714 w 6184806"/>
              <a:gd name="connsiteY37" fmla="*/ 109243 h 5154967"/>
              <a:gd name="connsiteX38" fmla="*/ 1498276 w 6184806"/>
              <a:gd name="connsiteY38" fmla="*/ 183309 h 5154967"/>
              <a:gd name="connsiteX39" fmla="*/ 1089410 w 6184806"/>
              <a:gd name="connsiteY39" fmla="*/ 890450 h 5154967"/>
              <a:gd name="connsiteX40" fmla="*/ 1089410 w 6184806"/>
              <a:gd name="connsiteY40" fmla="*/ 1035054 h 5154967"/>
              <a:gd name="connsiteX41" fmla="*/ 1498276 w 6184806"/>
              <a:gd name="connsiteY41" fmla="*/ 1742196 h 5154967"/>
              <a:gd name="connsiteX42" fmla="*/ 1552039 w 6184806"/>
              <a:gd name="connsiteY42" fmla="*/ 1796422 h 5154967"/>
              <a:gd name="connsiteX43" fmla="*/ 1558260 w 6184806"/>
              <a:gd name="connsiteY43" fmla="*/ 1799029 h 5154967"/>
              <a:gd name="connsiteX44" fmla="*/ 1524911 w 6184806"/>
              <a:gd name="connsiteY44" fmla="*/ 1856707 h 5154967"/>
              <a:gd name="connsiteX45" fmla="*/ 1500108 w 6184806"/>
              <a:gd name="connsiteY45" fmla="*/ 1899604 h 5154967"/>
              <a:gd name="connsiteX46" fmla="*/ 1525834 w 6184806"/>
              <a:gd name="connsiteY46" fmla="*/ 1910390 h 5154967"/>
              <a:gd name="connsiteX47" fmla="*/ 1569352 w 6184806"/>
              <a:gd name="connsiteY47" fmla="*/ 1916170 h 5154967"/>
              <a:gd name="connsiteX48" fmla="*/ 2493745 w 6184806"/>
              <a:gd name="connsiteY48" fmla="*/ 1916170 h 5154967"/>
              <a:gd name="connsiteX49" fmla="*/ 2635498 w 6184806"/>
              <a:gd name="connsiteY49" fmla="*/ 1832627 h 5154967"/>
              <a:gd name="connsiteX50" fmla="*/ 3098693 w 6184806"/>
              <a:gd name="connsiteY50" fmla="*/ 1034974 h 5154967"/>
              <a:gd name="connsiteX51" fmla="*/ 3098693 w 6184806"/>
              <a:gd name="connsiteY51" fmla="*/ 871863 h 5154967"/>
              <a:gd name="connsiteX52" fmla="*/ 2945803 w 6184806"/>
              <a:gd name="connsiteY52" fmla="*/ 608576 h 5154967"/>
              <a:gd name="connsiteX53" fmla="*/ 2923422 w 6184806"/>
              <a:gd name="connsiteY53" fmla="*/ 570035 h 5154967"/>
              <a:gd name="connsiteX54" fmla="*/ 3027104 w 6184806"/>
              <a:gd name="connsiteY54" fmla="*/ 570035 h 5154967"/>
              <a:gd name="connsiteX55" fmla="*/ 4690846 w 6184806"/>
              <a:gd name="connsiteY55" fmla="*/ 570035 h 5154967"/>
              <a:gd name="connsiteX56" fmla="*/ 5028384 w 6184806"/>
              <a:gd name="connsiteY56" fmla="*/ 768968 h 5154967"/>
              <a:gd name="connsiteX57" fmla="*/ 6131323 w 6184806"/>
              <a:gd name="connsiteY57" fmla="*/ 2668304 h 5154967"/>
              <a:gd name="connsiteX58" fmla="*/ 6131323 w 6184806"/>
              <a:gd name="connsiteY58" fmla="*/ 3056698 h 5154967"/>
              <a:gd name="connsiteX59" fmla="*/ 5028384 w 6184806"/>
              <a:gd name="connsiteY59" fmla="*/ 4956035 h 5154967"/>
              <a:gd name="connsiteX60" fmla="*/ 4690846 w 6184806"/>
              <a:gd name="connsiteY60" fmla="*/ 5154967 h 5154967"/>
              <a:gd name="connsiteX61" fmla="*/ 2489721 w 6184806"/>
              <a:gd name="connsiteY61" fmla="*/ 5154967 h 5154967"/>
              <a:gd name="connsiteX62" fmla="*/ 2147429 w 6184806"/>
              <a:gd name="connsiteY62" fmla="*/ 4956035 h 5154967"/>
              <a:gd name="connsiteX63" fmla="*/ 1049243 w 6184806"/>
              <a:gd name="connsiteY63" fmla="*/ 3056698 h 5154967"/>
              <a:gd name="connsiteX64" fmla="*/ 1049243 w 6184806"/>
              <a:gd name="connsiteY64" fmla="*/ 2668304 h 5154967"/>
              <a:gd name="connsiteX65" fmla="*/ 1457007 w 6184806"/>
              <a:gd name="connsiteY65" fmla="*/ 1963067 h 5154967"/>
              <a:gd name="connsiteX66" fmla="*/ 1491373 w 6184806"/>
              <a:gd name="connsiteY66" fmla="*/ 1903634 h 5154967"/>
              <a:gd name="connsiteX67" fmla="*/ 1490164 w 6184806"/>
              <a:gd name="connsiteY67" fmla="*/ 1903127 h 5154967"/>
              <a:gd name="connsiteX68" fmla="*/ 1429519 w 6184806"/>
              <a:gd name="connsiteY68" fmla="*/ 1841960 h 5154967"/>
              <a:gd name="connsiteX69" fmla="*/ 968320 w 6184806"/>
              <a:gd name="connsiteY69" fmla="*/ 1044307 h 5154967"/>
              <a:gd name="connsiteX70" fmla="*/ 968320 w 6184806"/>
              <a:gd name="connsiteY70" fmla="*/ 881196 h 5154967"/>
              <a:gd name="connsiteX71" fmla="*/ 1429519 w 6184806"/>
              <a:gd name="connsiteY71" fmla="*/ 83546 h 5154967"/>
              <a:gd name="connsiteX72" fmla="*/ 1573268 w 6184806"/>
              <a:gd name="connsiteY72" fmla="*/ 0 h 51549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</a:cxnLst>
            <a:rect l="l" t="t" r="r" b="b"/>
            <a:pathLst>
              <a:path w="6184806" h="5154967">
                <a:moveTo>
                  <a:pt x="363179" y="3125191"/>
                </a:moveTo>
                <a:cubicBezTo>
                  <a:pt x="363179" y="3125191"/>
                  <a:pt x="363179" y="3125191"/>
                  <a:pt x="898270" y="3125191"/>
                </a:cubicBezTo>
                <a:cubicBezTo>
                  <a:pt x="931786" y="3125191"/>
                  <a:pt x="964145" y="3143614"/>
                  <a:pt x="980326" y="3173551"/>
                </a:cubicBezTo>
                <a:cubicBezTo>
                  <a:pt x="980326" y="3173551"/>
                  <a:pt x="980326" y="3173551"/>
                  <a:pt x="1248448" y="3635277"/>
                </a:cubicBezTo>
                <a:cubicBezTo>
                  <a:pt x="1265784" y="3664063"/>
                  <a:pt x="1265784" y="3700909"/>
                  <a:pt x="1248448" y="3729695"/>
                </a:cubicBezTo>
                <a:cubicBezTo>
                  <a:pt x="1248448" y="3729695"/>
                  <a:pt x="1248448" y="3729695"/>
                  <a:pt x="980326" y="4191421"/>
                </a:cubicBezTo>
                <a:cubicBezTo>
                  <a:pt x="964145" y="4221358"/>
                  <a:pt x="931786" y="4239781"/>
                  <a:pt x="898270" y="4239781"/>
                </a:cubicBezTo>
                <a:cubicBezTo>
                  <a:pt x="898270" y="4239781"/>
                  <a:pt x="898270" y="4239781"/>
                  <a:pt x="363179" y="4239781"/>
                </a:cubicBezTo>
                <a:cubicBezTo>
                  <a:pt x="328508" y="4239781"/>
                  <a:pt x="297305" y="4221358"/>
                  <a:pt x="279969" y="4191421"/>
                </a:cubicBezTo>
                <a:cubicBezTo>
                  <a:pt x="279969" y="4191421"/>
                  <a:pt x="279969" y="4191421"/>
                  <a:pt x="13002" y="3729695"/>
                </a:cubicBezTo>
                <a:cubicBezTo>
                  <a:pt x="-4334" y="3700909"/>
                  <a:pt x="-4334" y="3664063"/>
                  <a:pt x="13002" y="3635277"/>
                </a:cubicBezTo>
                <a:cubicBezTo>
                  <a:pt x="13002" y="3635277"/>
                  <a:pt x="13002" y="3635277"/>
                  <a:pt x="279969" y="3173551"/>
                </a:cubicBezTo>
                <a:cubicBezTo>
                  <a:pt x="297305" y="3143614"/>
                  <a:pt x="328508" y="3125191"/>
                  <a:pt x="363179" y="3125191"/>
                </a:cubicBezTo>
                <a:close/>
                <a:moveTo>
                  <a:pt x="2489721" y="570035"/>
                </a:moveTo>
                <a:cubicBezTo>
                  <a:pt x="2489721" y="570035"/>
                  <a:pt x="2489721" y="570035"/>
                  <a:pt x="2764862" y="570035"/>
                </a:cubicBezTo>
                <a:lnTo>
                  <a:pt x="2796959" y="570035"/>
                </a:lnTo>
                <a:lnTo>
                  <a:pt x="2827587" y="622777"/>
                </a:lnTo>
                <a:cubicBezTo>
                  <a:pt x="2870233" y="696217"/>
                  <a:pt x="2919858" y="781675"/>
                  <a:pt x="2977604" y="881117"/>
                </a:cubicBezTo>
                <a:cubicBezTo>
                  <a:pt x="3004153" y="925204"/>
                  <a:pt x="3004153" y="981634"/>
                  <a:pt x="2977604" y="1025720"/>
                </a:cubicBezTo>
                <a:cubicBezTo>
                  <a:pt x="2977604" y="1025720"/>
                  <a:pt x="2977604" y="1025720"/>
                  <a:pt x="2566968" y="1732863"/>
                </a:cubicBezTo>
                <a:cubicBezTo>
                  <a:pt x="2542188" y="1778712"/>
                  <a:pt x="2492629" y="1806927"/>
                  <a:pt x="2441299" y="1806927"/>
                </a:cubicBezTo>
                <a:cubicBezTo>
                  <a:pt x="2441299" y="1806927"/>
                  <a:pt x="2441299" y="1806927"/>
                  <a:pt x="1621798" y="1806927"/>
                </a:cubicBezTo>
                <a:cubicBezTo>
                  <a:pt x="1608523" y="1806927"/>
                  <a:pt x="1595580" y="1805163"/>
                  <a:pt x="1583218" y="1801802"/>
                </a:cubicBezTo>
                <a:lnTo>
                  <a:pt x="1556683" y="1790677"/>
                </a:lnTo>
                <a:lnTo>
                  <a:pt x="1572899" y="1762630"/>
                </a:lnTo>
                <a:cubicBezTo>
                  <a:pt x="1719523" y="1509042"/>
                  <a:pt x="1907201" y="1184448"/>
                  <a:pt x="2147429" y="768968"/>
                </a:cubicBezTo>
                <a:cubicBezTo>
                  <a:pt x="2218739" y="645819"/>
                  <a:pt x="2347099" y="570035"/>
                  <a:pt x="2489721" y="570035"/>
                </a:cubicBezTo>
                <a:close/>
                <a:moveTo>
                  <a:pt x="1573268" y="0"/>
                </a:moveTo>
                <a:cubicBezTo>
                  <a:pt x="1573268" y="0"/>
                  <a:pt x="1573268" y="0"/>
                  <a:pt x="2497662" y="0"/>
                </a:cubicBezTo>
                <a:cubicBezTo>
                  <a:pt x="2555561" y="0"/>
                  <a:pt x="2611463" y="31828"/>
                  <a:pt x="2639415" y="83546"/>
                </a:cubicBezTo>
                <a:cubicBezTo>
                  <a:pt x="2639415" y="83546"/>
                  <a:pt x="2639415" y="83546"/>
                  <a:pt x="2887862" y="511387"/>
                </a:cubicBezTo>
                <a:lnTo>
                  <a:pt x="2915928" y="559720"/>
                </a:lnTo>
                <a:lnTo>
                  <a:pt x="2893844" y="559720"/>
                </a:lnTo>
                <a:lnTo>
                  <a:pt x="2789466" y="559720"/>
                </a:lnTo>
                <a:lnTo>
                  <a:pt x="2744122" y="481634"/>
                </a:lnTo>
                <a:cubicBezTo>
                  <a:pt x="2570885" y="183309"/>
                  <a:pt x="2570885" y="183309"/>
                  <a:pt x="2570885" y="183309"/>
                </a:cubicBezTo>
                <a:cubicBezTo>
                  <a:pt x="2546104" y="137459"/>
                  <a:pt x="2496545" y="109243"/>
                  <a:pt x="2445216" y="109243"/>
                </a:cubicBezTo>
                <a:cubicBezTo>
                  <a:pt x="1625714" y="109243"/>
                  <a:pt x="1625714" y="109243"/>
                  <a:pt x="1625714" y="109243"/>
                </a:cubicBezTo>
                <a:cubicBezTo>
                  <a:pt x="1572615" y="109243"/>
                  <a:pt x="1524825" y="137459"/>
                  <a:pt x="1498276" y="183309"/>
                </a:cubicBezTo>
                <a:cubicBezTo>
                  <a:pt x="1089410" y="890450"/>
                  <a:pt x="1089410" y="890450"/>
                  <a:pt x="1089410" y="890450"/>
                </a:cubicBezTo>
                <a:cubicBezTo>
                  <a:pt x="1062860" y="934537"/>
                  <a:pt x="1062860" y="990967"/>
                  <a:pt x="1089410" y="1035054"/>
                </a:cubicBezTo>
                <a:cubicBezTo>
                  <a:pt x="1498276" y="1742196"/>
                  <a:pt x="1498276" y="1742196"/>
                  <a:pt x="1498276" y="1742196"/>
                </a:cubicBezTo>
                <a:cubicBezTo>
                  <a:pt x="1511551" y="1765121"/>
                  <a:pt x="1530135" y="1783637"/>
                  <a:pt x="1552039" y="1796422"/>
                </a:cubicBezTo>
                <a:lnTo>
                  <a:pt x="1558260" y="1799029"/>
                </a:lnTo>
                <a:lnTo>
                  <a:pt x="1524911" y="1856707"/>
                </a:lnTo>
                <a:lnTo>
                  <a:pt x="1500108" y="1899604"/>
                </a:lnTo>
                <a:lnTo>
                  <a:pt x="1525834" y="1910390"/>
                </a:lnTo>
                <a:cubicBezTo>
                  <a:pt x="1539779" y="1914181"/>
                  <a:pt x="1554378" y="1916170"/>
                  <a:pt x="1569352" y="1916170"/>
                </a:cubicBezTo>
                <a:cubicBezTo>
                  <a:pt x="2493745" y="1916170"/>
                  <a:pt x="2493745" y="1916170"/>
                  <a:pt x="2493745" y="1916170"/>
                </a:cubicBezTo>
                <a:cubicBezTo>
                  <a:pt x="2551645" y="1916170"/>
                  <a:pt x="2607546" y="1884345"/>
                  <a:pt x="2635498" y="1832627"/>
                </a:cubicBezTo>
                <a:cubicBezTo>
                  <a:pt x="3098693" y="1034974"/>
                  <a:pt x="3098693" y="1034974"/>
                  <a:pt x="3098693" y="1034974"/>
                </a:cubicBezTo>
                <a:cubicBezTo>
                  <a:pt x="3128641" y="985246"/>
                  <a:pt x="3128641" y="921593"/>
                  <a:pt x="3098693" y="871863"/>
                </a:cubicBezTo>
                <a:cubicBezTo>
                  <a:pt x="3040794" y="772157"/>
                  <a:pt x="2990132" y="684914"/>
                  <a:pt x="2945803" y="608576"/>
                </a:cubicBezTo>
                <a:lnTo>
                  <a:pt x="2923422" y="570035"/>
                </a:lnTo>
                <a:lnTo>
                  <a:pt x="3027104" y="570035"/>
                </a:lnTo>
                <a:cubicBezTo>
                  <a:pt x="3349535" y="570035"/>
                  <a:pt x="3865424" y="570035"/>
                  <a:pt x="4690846" y="570035"/>
                </a:cubicBezTo>
                <a:cubicBezTo>
                  <a:pt x="4828714" y="570035"/>
                  <a:pt x="4961827" y="645819"/>
                  <a:pt x="5028384" y="768968"/>
                </a:cubicBezTo>
                <a:cubicBezTo>
                  <a:pt x="5028384" y="768968"/>
                  <a:pt x="5028384" y="768968"/>
                  <a:pt x="6131323" y="2668304"/>
                </a:cubicBezTo>
                <a:cubicBezTo>
                  <a:pt x="6202634" y="2786717"/>
                  <a:pt x="6202634" y="2938285"/>
                  <a:pt x="6131323" y="3056698"/>
                </a:cubicBezTo>
                <a:cubicBezTo>
                  <a:pt x="6131323" y="3056698"/>
                  <a:pt x="6131323" y="3056698"/>
                  <a:pt x="5028384" y="4956035"/>
                </a:cubicBezTo>
                <a:cubicBezTo>
                  <a:pt x="4961827" y="5079184"/>
                  <a:pt x="4828714" y="5154967"/>
                  <a:pt x="4690846" y="5154967"/>
                </a:cubicBezTo>
                <a:cubicBezTo>
                  <a:pt x="4690846" y="5154967"/>
                  <a:pt x="4690846" y="5154967"/>
                  <a:pt x="2489721" y="5154967"/>
                </a:cubicBezTo>
                <a:cubicBezTo>
                  <a:pt x="2347099" y="5154967"/>
                  <a:pt x="2218739" y="5079184"/>
                  <a:pt x="2147429" y="4956035"/>
                </a:cubicBezTo>
                <a:cubicBezTo>
                  <a:pt x="2147429" y="4956035"/>
                  <a:pt x="2147429" y="4956035"/>
                  <a:pt x="1049243" y="3056698"/>
                </a:cubicBezTo>
                <a:cubicBezTo>
                  <a:pt x="977932" y="2938285"/>
                  <a:pt x="977932" y="2786717"/>
                  <a:pt x="1049243" y="2668304"/>
                </a:cubicBezTo>
                <a:cubicBezTo>
                  <a:pt x="1049243" y="2668304"/>
                  <a:pt x="1049243" y="2668304"/>
                  <a:pt x="1457007" y="1963067"/>
                </a:cubicBezTo>
                <a:lnTo>
                  <a:pt x="1491373" y="1903634"/>
                </a:lnTo>
                <a:lnTo>
                  <a:pt x="1490164" y="1903127"/>
                </a:lnTo>
                <a:cubicBezTo>
                  <a:pt x="1465456" y="1888705"/>
                  <a:pt x="1444493" y="1867820"/>
                  <a:pt x="1429519" y="1841960"/>
                </a:cubicBezTo>
                <a:cubicBezTo>
                  <a:pt x="1429519" y="1841960"/>
                  <a:pt x="1429519" y="1841960"/>
                  <a:pt x="968320" y="1044307"/>
                </a:cubicBezTo>
                <a:cubicBezTo>
                  <a:pt x="938371" y="994579"/>
                  <a:pt x="938371" y="930926"/>
                  <a:pt x="968320" y="881196"/>
                </a:cubicBezTo>
                <a:cubicBezTo>
                  <a:pt x="968320" y="881196"/>
                  <a:pt x="968320" y="881196"/>
                  <a:pt x="1429519" y="83546"/>
                </a:cubicBezTo>
                <a:cubicBezTo>
                  <a:pt x="1459466" y="31828"/>
                  <a:pt x="1513373" y="0"/>
                  <a:pt x="1573268" y="0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120848B-B2B4-45BE-A961-AEC0B06CF41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59916"/>
          <a:stretch/>
        </p:blipFill>
        <p:spPr>
          <a:xfrm>
            <a:off x="6854891" y="1715881"/>
            <a:ext cx="3203509" cy="3426237"/>
          </a:xfrm>
          <a:prstGeom prst="rect">
            <a:avLst/>
          </a:prstGeom>
        </p:spPr>
      </p:pic>
      <p:sp>
        <p:nvSpPr>
          <p:cNvPr id="4" name="Subtitle 3"/>
          <p:cNvSpPr>
            <a:spLocks noGrp="1"/>
          </p:cNvSpPr>
          <p:nvPr>
            <p:ph type="subTitle" idx="1"/>
          </p:nvPr>
        </p:nvSpPr>
        <p:spPr>
          <a:xfrm>
            <a:off x="1245686" y="648614"/>
            <a:ext cx="8534400" cy="1752600"/>
          </a:xfrm>
        </p:spPr>
        <p:txBody>
          <a:bodyPr/>
          <a:lstStyle/>
          <a:p>
            <a:r>
              <a:rPr b="1">
                <a:latin typeface="Times New Roman"/>
              </a:rPr>
              <a:t>IDEA PRESENTATION</a:t>
            </a:r>
            <a:endParaRPr lang="en-US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IN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331286" y="-526757"/>
            <a:ext cx="10363200" cy="2076450"/>
          </a:xfrm>
        </p:spPr>
        <p:txBody>
          <a:bodyPr/>
          <a:lstStyle/>
          <a:p>
            <a:r>
              <a:rPr lang="en-US" sz="4000" b="1" dirty="0">
                <a:solidFill>
                  <a:schemeClr val="tx2"/>
                </a:solidFill>
                <a:latin typeface="Garamond" panose="02020404030301010803" pitchFamily="18" charset="0"/>
              </a:rPr>
              <a:t>SMART INDIA HACKATHON </a:t>
            </a:r>
            <a:r>
              <a:rPr lang="en-US" sz="4000" b="1" dirty="0" smtClean="0">
                <a:solidFill>
                  <a:schemeClr val="tx2"/>
                </a:solidFill>
                <a:latin typeface="Garamond" panose="02020404030301010803" pitchFamily="18" charset="0"/>
              </a:rPr>
              <a:t>2026</a:t>
            </a:r>
            <a:endParaRPr lang="en-IN" sz="4000" b="1" dirty="0">
              <a:solidFill>
                <a:schemeClr val="tx2"/>
              </a:solidFill>
              <a:latin typeface="Garamond" panose="02020404030301010803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31286" y="2076450"/>
            <a:ext cx="5924550" cy="47030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1000"/>
              </a:spcAft>
            </a:pPr>
            <a:r>
              <a:rPr sz="2200" b="1">
                <a:latin typeface="Arial"/>
              </a:rPr>
              <a:t>Problem Statement ID  :  26076</a:t>
            </a:r>
            <a:endParaRPr lang="en-US"/>
          </a:p>
          <a:p>
            <a:pPr>
              <a:spcAft>
                <a:spcPts val="1000"/>
              </a:spcAft>
            </a:pPr>
            <a:r>
              <a:rPr sz="2200" b="1">
                <a:latin typeface="Arial"/>
              </a:rPr>
              <a:t>Problem Statement Title  :  Development of Personalized Homepage for 'Mausam' Mobile Application</a:t>
            </a:r>
          </a:p>
          <a:p>
            <a:pPr>
              <a:spcAft>
                <a:spcPts val="1000"/>
              </a:spcAft>
            </a:pPr>
            <a:r>
              <a:rPr sz="2200" b="1">
                <a:latin typeface="Arial"/>
              </a:rPr>
              <a:t>Theme  :  Smart Automation</a:t>
            </a:r>
          </a:p>
          <a:p>
            <a:pPr>
              <a:spcAft>
                <a:spcPts val="1000"/>
              </a:spcAft>
            </a:pPr>
            <a:r>
              <a:rPr sz="2200" b="1">
                <a:latin typeface="Arial"/>
              </a:rPr>
              <a:t>PS Category  :  Software</a:t>
            </a:r>
          </a:p>
          <a:p>
            <a:pPr>
              <a:spcAft>
                <a:spcPts val="1000"/>
              </a:spcAft>
            </a:pPr>
            <a:r>
              <a:rPr sz="2200" b="1">
                <a:latin typeface="Arial"/>
              </a:rPr>
              <a:t>Team ID  :  ____________ (to be filled after registration)</a:t>
            </a:r>
          </a:p>
          <a:p>
            <a:pPr>
              <a:spcAft>
                <a:spcPts val="1000"/>
              </a:spcAft>
            </a:pPr>
            <a:r>
              <a:rPr sz="2200" b="1">
                <a:latin typeface="Arial"/>
              </a:rPr>
              <a:t>Team Name  :  BugNotFound</a:t>
            </a: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5361" name="Title 1"/>
          <p:cNvSpPr>
            <a:spLocks noGrp="1"/>
          </p:cNvSpPr>
          <p:nvPr>
            <p:ph type="title"/>
          </p:nvPr>
        </p:nvSpPr>
        <p:spPr>
          <a:xfrm>
            <a:off x="182998" y="0"/>
            <a:ext cx="10972800" cy="1143000"/>
          </a:xfrm>
        </p:spPr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/>
            </a:r>
            <a:b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</a:br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IDEA TITLE</a:t>
            </a:r>
          </a:p>
        </p:txBody>
      </p:sp>
      <p:sp>
        <p:nvSpPr>
          <p:cNvPr id="15362" name="TextBox 8"/>
          <p:cNvSpPr txBox="1">
            <a:spLocks noChangeArrowheads="1"/>
          </p:cNvSpPr>
          <p:nvPr/>
        </p:nvSpPr>
        <p:spPr bwMode="auto">
          <a:xfrm>
            <a:off x="566928" y="1261872"/>
            <a:ext cx="8412480" cy="50474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700" b="1">
                <a:solidFill>
                  <a:srgbClr val="E66A1E"/>
                </a:solidFill>
                <a:latin typeface="Arial"/>
              </a:rPr>
              <a:t>Proposed Solution (Describe your Idea/Solution/Prototype)</a:t>
            </a:r>
            <a:endParaRPr lang="en-US"/>
          </a:p>
          <a:p>
            <a:pPr>
              <a:spcAft>
                <a:spcPts val="600"/>
              </a:spcAft>
            </a:pPr>
            <a:r>
              <a:rPr sz="1250" b="1">
                <a:solidFill>
                  <a:srgbClr val="1A1A2E"/>
                </a:solidFill>
                <a:latin typeface="Arial"/>
              </a:rPr>
              <a:t>Mausam 2.0 - a Personalized Weather Intelligence Engine on authoritative IMD / MoES data. It knows WHO / WHERE / WHAT you plan - and shows decisions, not raw data.</a:t>
            </a:r>
          </a:p>
          <a:p>
            <a:pPr>
              <a:spcAft>
                <a:spcPts val="200"/>
              </a:spcAft>
            </a:pPr>
            <a:r>
              <a:rPr sz="1600" b="1">
                <a:solidFill>
                  <a:srgbClr val="1A1A2E"/>
                </a:solidFill>
                <a:latin typeface="Arial"/>
              </a:rPr>
              <a:t>Detailed explanation of the proposed solution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1A1A2E"/>
                </a:solidFill>
                <a:latin typeface="Arial"/>
              </a:rPr>
              <a:t>- Context Engine, not widget picking: Score = Interest x Context x Urgency x Time x Location x Behaviour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1A1A2E"/>
                </a:solidFill>
                <a:latin typeface="Arial"/>
              </a:rPr>
              <a:t>- 'My Day' hero: weather as a timeline of decisions (6:30 Run - excellent; 5:30 commute - rain risk)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1A1A2E"/>
                </a:solidFill>
                <a:latin typeface="Arial"/>
              </a:rPr>
              <a:t>- Explainable impact indices with WHY: Running, Beach, Commute, Event, Farm, Health (AQI/UV/pollen/heat)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1A1A2E"/>
                </a:solidFill>
                <a:latin typeface="Arial"/>
              </a:rPr>
              <a:t>- Official IMD warnings always pinned first, separated from derived advice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1A1A2E"/>
                </a:solidFill>
                <a:latin typeface="Arial"/>
              </a:rPr>
              <a:t>- Autonomous inference from time, GPS, calendar &amp; saved places - no persona picker</a:t>
            </a:r>
          </a:p>
          <a:p>
            <a:pPr>
              <a:spcAft>
                <a:spcPts val="200"/>
              </a:spcAft>
            </a:pPr>
            <a:r>
              <a:rPr sz="1600" b="1">
                <a:solidFill>
                  <a:srgbClr val="1A1A2E"/>
                </a:solidFill>
                <a:latin typeface="Arial"/>
              </a:rPr>
              <a:t>How it addresses the problem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1A1A2E"/>
                </a:solidFill>
                <a:latin typeface="Arial"/>
              </a:rPr>
              <a:t>- ONE adaptive homepage for 8 personas instead of eight separate apps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1A1A2E"/>
                </a:solidFill>
                <a:latin typeface="Arial"/>
              </a:rPr>
              <a:t>- Geofenced route alerts: 'rain on your route - leave before 6:40 AM'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1A1A2E"/>
                </a:solidFill>
                <a:latin typeface="Arial"/>
              </a:rPr>
              <a:t>- Health profiles tune weights (asthma -&gt; higher AQI weight)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1A1A2E"/>
                </a:solidFill>
                <a:latin typeface="Arial"/>
              </a:rPr>
              <a:t>- Works on 2G, offline-first, 11 Indian languages, budget phones</a:t>
            </a:r>
          </a:p>
          <a:p>
            <a:pPr>
              <a:spcAft>
                <a:spcPts val="200"/>
              </a:spcAft>
            </a:pPr>
            <a:r>
              <a:rPr sz="1600" b="1">
                <a:solidFill>
                  <a:srgbClr val="1A1A2E"/>
                </a:solidFill>
                <a:latin typeface="Arial"/>
              </a:rPr>
              <a:t>Innovation and uniqueness of the solution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1A1A2E"/>
                </a:solidFill>
                <a:latin typeface="Arial"/>
              </a:rPr>
              <a:t>- Decisions-over-Data + Trust-through-Transparency: every card explainable, source cited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1A1A2E"/>
                </a:solidFill>
                <a:latin typeface="Arial"/>
              </a:rPr>
              <a:t>- 5-layer moat: IMD authority | context engine | impact models | India-first | micro-climate + API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1A1A2E"/>
                </a:solidFill>
                <a:latin typeface="Arial"/>
              </a:rPr>
              <a:t>- My Day + Health Intelligence + Activity engine - a combo no rival (AccuWeather/Windy/Carrot) has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 smtClean="0">
                <a:solidFill>
                  <a:schemeClr val="bg1"/>
                </a:solidFill>
              </a:rPr>
              <a:pPr/>
              <a:t>2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10" name="Oval 9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sz="1200" b="1">
                <a:latin typeface="Arial"/>
              </a:rPr>
              <a:t>BugNotFound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pic>
        <p:nvPicPr>
          <p:cNvPr id="15363" name="Picture 15362" descr="my_da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0" y="1600200"/>
            <a:ext cx="2880360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TECHNICAL APPROACH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566928" y="1261872"/>
            <a:ext cx="5212080" cy="50474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anchor="t">
            <a:spAutoFit/>
          </a:bodyPr>
          <a:lstStyle/>
          <a:p>
            <a:pPr>
              <a:spcAft>
                <a:spcPts val="300"/>
              </a:spcAft>
            </a:pPr>
            <a:r>
              <a:rPr sz="1600" b="1">
                <a:solidFill>
                  <a:srgbClr val="E66A1E"/>
                </a:solidFill>
                <a:latin typeface="Arial"/>
              </a:rPr>
              <a:t>Technologies to be used (e.g. programming languages, frameworks, hardware)</a:t>
            </a:r>
            <a:endParaRPr lang="en-US"/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1A1A2E"/>
                </a:solidFill>
                <a:latin typeface="Arial"/>
              </a:rPr>
              <a:t>- Mobile: React Native (TypeScript · Hermes) · React Navigation (deep links) · Zustand + React Query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1A1A2E"/>
                </a:solidFill>
                <a:latin typeface="Arial"/>
              </a:rPr>
              <a:t>- Animations &amp; maps: Reanimated 3 + Skia decision rings &amp; staggers · MapLibre + OpenStreetMap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1A1A2E"/>
                </a:solidFill>
                <a:latin typeface="Arial"/>
              </a:rPr>
              <a:t>- Offline-first: WatermelonDB (SQLite) cache · MMKV + Keychain secure stores · 11-language i18n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1A1A2E"/>
                </a:solidFill>
                <a:latin typeface="Arial"/>
              </a:rPr>
              <a:t>- Push: Firebase FCM + Notifee geofenced severe alerts (always-on)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1A1A2E"/>
                </a:solidFill>
                <a:latin typeface="Arial"/>
              </a:rPr>
              <a:t>- Backend: Python 3.12 + FastAPI monolith | PostgreSQL 16 + PostGIS 3.4 + Redis 7 + Celery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1A1A2E"/>
                </a:solidFill>
                <a:latin typeface="Arial"/>
              </a:rPr>
              <a:t>- Infra &amp; quality: Docker-Kubernetes · GitHub Actions · Grafana · Sentry · Jest + Detox + Locust</a:t>
            </a:r>
          </a:p>
          <a:p>
            <a:pPr>
              <a:spcAft>
                <a:spcPts val="300"/>
              </a:spcAft>
            </a:pPr>
            <a:r>
              <a:rPr sz="1600" b="1">
                <a:solidFill>
                  <a:srgbClr val="1A1A2E"/>
                </a:solidFill>
                <a:latin typeface="Arial"/>
              </a:rPr>
              <a:t>Methodology and process for implementation (Flow Charts / Images / working prototype)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1A1A2E"/>
                </a:solidFill>
                <a:latin typeface="Arial"/>
              </a:rPr>
              <a:t>- Pipeline: ingest -&gt; normalize -&gt; PostGIS -&gt; impact models -&gt; personalization -&gt; alerts -&gt; mobile UI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1A1A2E"/>
                </a:solidFill>
                <a:latin typeface="Arial"/>
              </a:rPr>
              <a:t>- 6 services: Aggregator, User Context, Impact Models, Personalization Engine, Alert Orchestrator, Template-first NLG (LLM optional)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1A1A2E"/>
                </a:solidFill>
                <a:latin typeface="Arial"/>
              </a:rPr>
              <a:t>- Key APIs: GET /homepage/cards (ranked), /cards/{activity}, /briefing/daily, /ask, profile &amp; locations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1A1A2E"/>
                </a:solidFill>
                <a:latin typeface="Arial"/>
              </a:rPr>
              <a:t>- 30-day agile build: Foundation -&gt; Intelligence -&gt; Refinement -&gt; Polish, day-by-day sprints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1A1A2E"/>
                </a:solidFill>
                <a:latin typeface="Arial"/>
              </a:rPr>
              <a:t>- IMD admin dashboard: provider status, alert map, publish warnings (gov-tech credibility)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>
                <a:solidFill>
                  <a:schemeClr val="bg1"/>
                </a:solidFill>
              </a:rPr>
              <a:pPr/>
              <a:t>3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11" name="Oval 10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sz="1200" b="1">
                <a:latin typeface="Arial"/>
              </a:rPr>
              <a:t>BugNotFound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pic>
        <p:nvPicPr>
          <p:cNvPr id="17411" name="Picture 17410" descr="architectur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89320" y="1600200"/>
            <a:ext cx="6035040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FEASIBILITY AND VIABILITY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566928" y="1261872"/>
            <a:ext cx="8412480" cy="50474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</a:pPr>
            <a:r>
              <a:rPr sz="1600" b="1">
                <a:solidFill>
                  <a:srgbClr val="E66A1E"/>
                </a:solidFill>
                <a:latin typeface="Arial"/>
              </a:rPr>
              <a:t>Analysis of the feasibility of the idea</a:t>
            </a:r>
            <a:endParaRPr lang="en-US"/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A1A2E"/>
                </a:solidFill>
                <a:latin typeface="Arial"/>
              </a:rPr>
              <a:t>- Core data is FREE &amp; public (IMD, CPCB, INCOIS); provider abstraction + mocks = resilient to API changes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A1A2E"/>
                </a:solidFill>
                <a:latin typeface="Arial"/>
              </a:rPr>
              <a:t>- Proven low-cost stack; MVP shippable in the hackathon window; modular monolith scales to national load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A1A2E"/>
                </a:solidFill>
                <a:latin typeface="Arial"/>
              </a:rPr>
              <a:t>- Offline-first + 2G/low-bandwidth; works on low-end devices and in 11 languages (DPDP-compliant consent)</a:t>
            </a:r>
          </a:p>
          <a:p>
            <a:pPr>
              <a:spcAft>
                <a:spcPts val="300"/>
              </a:spcAft>
            </a:pPr>
            <a:r>
              <a:rPr sz="1600" b="1">
                <a:solidFill>
                  <a:srgbClr val="1A1A2E"/>
                </a:solidFill>
                <a:latin typeface="Arial"/>
              </a:rPr>
              <a:t>Potential challenges and risks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1A1A2E"/>
                </a:solidFill>
                <a:latin typeface="Arial"/>
              </a:rPr>
              <a:t>- IMD API changes / downtime / licensing (Med - High)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1A1A2E"/>
                </a:solidFill>
                <a:latin typeface="Arial"/>
              </a:rPr>
              <a:t>- Data inaccuracy &amp; provenance (Med - High)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1A1A2E"/>
                </a:solidFill>
                <a:latin typeface="Arial"/>
              </a:rPr>
              <a:t>- Established-app competition - AccuWeather, Windy, Carrot (High - Med)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1A1A2E"/>
                </a:solidFill>
                <a:latin typeface="Arial"/>
              </a:rPr>
              <a:t>- Low-end device performance (Med)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1A1A2E"/>
                </a:solidFill>
                <a:latin typeface="Arial"/>
              </a:rPr>
              <a:t>- Privacy of location &amp; health data (Low - High)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1A1A2E"/>
                </a:solidFill>
                <a:latin typeface="Arial"/>
              </a:rPr>
              <a:t>- Agronomic / safety-claim liability (Med)</a:t>
            </a:r>
          </a:p>
          <a:p>
            <a:pPr>
              <a:spcAft>
                <a:spcPts val="300"/>
              </a:spcAft>
            </a:pPr>
            <a:r>
              <a:rPr sz="1600" b="1">
                <a:solidFill>
                  <a:srgbClr val="1A1A2E"/>
                </a:solidFill>
                <a:latin typeface="Arial"/>
              </a:rPr>
              <a:t>Strategies for overcoming these challenges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A1A2E"/>
                </a:solidFill>
                <a:latin typeface="Arial"/>
              </a:rPr>
              <a:t>- Fallback chain + confidence scoring + provenance display; verify IMD licensing during SIH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A1A2E"/>
                </a:solidFill>
                <a:latin typeface="Arial"/>
              </a:rPr>
              <a:t>- Relevance-ranked, de-duplicated alerts + quiet hours (22:00-06:00); Priority = Severity x Location x Activity x Time x Pref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A1A2E"/>
                </a:solidFill>
                <a:latin typeface="Arial"/>
              </a:rPr>
              <a:t>- Performance budget, lazy loading, offline-first; local processing + transparent consent, export &amp; delete (DPDP)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sz="1200" b="1">
                <a:latin typeface="Arial"/>
              </a:rPr>
              <a:t>BugNotFound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33879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IMPACT AND BENEFITS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566928" y="1261872"/>
            <a:ext cx="8412480" cy="50474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</a:pPr>
            <a:r>
              <a:rPr sz="1600" b="1">
                <a:solidFill>
                  <a:srgbClr val="E66A1E"/>
                </a:solidFill>
                <a:latin typeface="Arial"/>
              </a:rPr>
              <a:t>Potential impact on the target audience</a:t>
            </a:r>
            <a:endParaRPr lang="en-US"/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A1A2E"/>
                </a:solidFill>
                <a:latin typeface="Arial"/>
              </a:rPr>
              <a:t>- Serves all 1.4 billion Indians across 8 personas: health-sensitive, parents, farmers, travellers, commuters, event planners, beach &amp; fitness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A1A2E"/>
                </a:solidFill>
                <a:latin typeface="Arial"/>
              </a:rPr>
              <a:t>- Personalized disaster early-warning at national scale; safer commutes; better health decisions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A1A2E"/>
                </a:solidFill>
                <a:latin typeface="Arial"/>
              </a:rPr>
              <a:t>- Month-1 targets: 10K downloads, 4.5+ rating, day-7 retention 40%</a:t>
            </a:r>
          </a:p>
          <a:p>
            <a:pPr>
              <a:spcAft>
                <a:spcPts val="300"/>
              </a:spcAft>
            </a:pPr>
            <a:r>
              <a:rPr sz="1600" b="1">
                <a:solidFill>
                  <a:srgbClr val="1A1A2E"/>
                </a:solidFill>
                <a:latin typeface="Arial"/>
              </a:rPr>
              <a:t>Benefits of the solution (social, economic, environmental, etc.)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A1A2E"/>
                </a:solidFill>
                <a:latin typeface="Arial"/>
              </a:rPr>
              <a:t>Social - public safety and trust through transparent, explainable IMD-backed warnings; accessibility + 11 languages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A1A2E"/>
                </a:solidFill>
                <a:latin typeface="Arial"/>
              </a:rPr>
              <a:t>Economic - farmers protect crops; B2B Weather Impact API (logistics, insurance, agritech, events); commuters &amp; planners avoid losses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A1A2E"/>
                </a:solidFill>
                <a:latin typeface="Arial"/>
              </a:rPr>
              <a:t>Environmental - hyper-local climate awareness; crowdsourced micro-climate research as data moat</a:t>
            </a:r>
          </a:p>
          <a:p>
            <a:pPr>
              <a:spcAft>
                <a:spcPts val="400"/>
              </a:spcAft>
            </a:pPr>
            <a:r>
              <a:rPr sz="1200" b="1">
                <a:solidFill>
                  <a:srgbClr val="E66A1E"/>
                </a:solidFill>
                <a:latin typeface="Arial"/>
              </a:rPr>
              <a:t>Time to impact: usable MVP in weeks; IMD pilot in 2-3 high-variability states; national-scale ready in a quarter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sz="1200" b="1">
                <a:latin typeface="Arial"/>
              </a:rPr>
              <a:t>BugNotFound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pic>
        <p:nvPicPr>
          <p:cNvPr id="17411" name="Picture 17410" descr="impac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0" y="1600200"/>
            <a:ext cx="2880360" cy="457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71441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RESEARCH  AND REFERENCES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566928" y="1261872"/>
            <a:ext cx="8412480" cy="50474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</a:pPr>
            <a:r>
              <a:rPr sz="1600" b="1">
                <a:solidFill>
                  <a:srgbClr val="E66A1E"/>
                </a:solidFill>
                <a:latin typeface="Arial"/>
              </a:rPr>
              <a:t>Details / Links of the reference and research work</a:t>
            </a:r>
            <a:endParaRPr lang="en-US"/>
          </a:p>
          <a:p>
            <a:pPr>
              <a:spcAft>
                <a:spcPts val="500"/>
              </a:spcAft>
            </a:pPr>
            <a:r>
              <a:rPr sz="1200" b="0">
                <a:solidFill>
                  <a:srgbClr val="1A1A2E"/>
                </a:solidFill>
                <a:latin typeface="Arial"/>
              </a:rPr>
              <a:t>- IMD (official weather &amp; warnings):  https://mausam.imd.gov.in</a:t>
            </a:r>
          </a:p>
          <a:p>
            <a:pPr>
              <a:spcAft>
                <a:spcPts val="500"/>
              </a:spcAft>
            </a:pPr>
            <a:r>
              <a:rPr sz="1200" b="0">
                <a:solidFill>
                  <a:srgbClr val="1A1A2E"/>
                </a:solidFill>
                <a:latin typeface="Arial"/>
              </a:rPr>
              <a:t>- CPCB National Air Quality Index:  https://airquality.cpcb.gov.in</a:t>
            </a:r>
          </a:p>
          <a:p>
            <a:pPr>
              <a:spcAft>
                <a:spcPts val="500"/>
              </a:spcAft>
            </a:pPr>
            <a:r>
              <a:rPr sz="1200" b="0">
                <a:solidFill>
                  <a:srgbClr val="1A1A2E"/>
                </a:solidFill>
                <a:latin typeface="Arial"/>
              </a:rPr>
              <a:t>- INCOIS Ocean State Forecast (tides / waves / SST):  https://incois.gov.in/portal/osf</a:t>
            </a:r>
          </a:p>
          <a:p>
            <a:pPr>
              <a:spcAft>
                <a:spcPts val="500"/>
              </a:spcAft>
            </a:pPr>
            <a:r>
              <a:rPr sz="1200" b="0">
                <a:solidFill>
                  <a:srgbClr val="1A1A2E"/>
                </a:solidFill>
                <a:latin typeface="Arial"/>
              </a:rPr>
              <a:t>- ISRO Bhuvan (geospatial + soil moisture):  https://bhuvan.nrsc.gov.in</a:t>
            </a:r>
          </a:p>
          <a:p>
            <a:pPr>
              <a:spcAft>
                <a:spcPts val="500"/>
              </a:spcAft>
            </a:pPr>
            <a:r>
              <a:rPr sz="1200" b="0">
                <a:solidFill>
                  <a:srgbClr val="1A1A2E"/>
                </a:solidFill>
                <a:latin typeface="Arial"/>
              </a:rPr>
              <a:t>- Govt Open Data Platform:  https://data.gov.in</a:t>
            </a:r>
          </a:p>
          <a:p>
            <a:pPr>
              <a:spcAft>
                <a:spcPts val="500"/>
              </a:spcAft>
            </a:pPr>
            <a:r>
              <a:rPr sz="1200" b="0">
                <a:solidFill>
                  <a:srgbClr val="1A1A2E"/>
                </a:solidFill>
                <a:latin typeface="Arial"/>
              </a:rPr>
              <a:t>- Open-Meteo (fallback: pollen / UV / AQI):  https://open-meteo.com</a:t>
            </a:r>
          </a:p>
          <a:p>
            <a:pPr>
              <a:spcAft>
                <a:spcPts val="500"/>
              </a:spcAft>
            </a:pPr>
            <a:r>
              <a:rPr sz="1200" b="0">
                <a:solidFill>
                  <a:srgbClr val="1A1A2E"/>
                </a:solidFill>
                <a:latin typeface="Arial"/>
              </a:rPr>
              <a:t>- DPDP Act (data protection &amp; consent):  https://www.meity.gov.in</a:t>
            </a:r>
          </a:p>
          <a:p>
            <a:pPr>
              <a:spcAft>
                <a:spcPts val="500"/>
              </a:spcAft>
            </a:pPr>
            <a:r>
              <a:rPr sz="1200" b="0">
                <a:solidFill>
                  <a:srgbClr val="1A1A2E"/>
                </a:solidFill>
                <a:latin typeface="Arial"/>
              </a:rPr>
              <a:t>- Competitive research: AccuWeather, Weather.com, Windy, IMD Mausam, Carrot Weather - gap: no activity-aware India-first personalization</a:t>
            </a:r>
          </a:p>
          <a:p>
            <a:pPr>
              <a:spcAft>
                <a:spcPts val="500"/>
              </a:spcAft>
            </a:pPr>
            <a:r>
              <a:rPr sz="1200" b="0">
                <a:solidFill>
                  <a:srgbClr val="1A1A2E"/>
                </a:solidFill>
                <a:latin typeface="Arial"/>
              </a:rPr>
              <a:t>- SIH 2026 PS 26076 - MoES / IMD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9" name="Oval 8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sz="1200" b="1">
                <a:latin typeface="Arial"/>
              </a:rPr>
              <a:t>BugNotFound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67886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7489</TotalTime>
  <Words>325</Words>
  <Application>Microsoft Office PowerPoint</Application>
  <PresentationFormat>Widescreen</PresentationFormat>
  <Paragraphs>62</Paragraphs>
  <Slides>7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5" baseType="lpstr">
      <vt:lpstr>ＭＳ Ｐゴシック</vt:lpstr>
      <vt:lpstr>Arial</vt:lpstr>
      <vt:lpstr>Calibri</vt:lpstr>
      <vt:lpstr>Garamond</vt:lpstr>
      <vt:lpstr>Times New Roman</vt:lpstr>
      <vt:lpstr>TradeGothic</vt:lpstr>
      <vt:lpstr>Wingdings</vt:lpstr>
      <vt:lpstr>Office Theme</vt:lpstr>
      <vt:lpstr>SMART INDIA HACKATHON 2026</vt:lpstr>
      <vt:lpstr> IDEA TITLE</vt:lpstr>
      <vt:lpstr>TECHNICAL APPROACH</vt:lpstr>
      <vt:lpstr>FEASIBILITY AND VIABILITY</vt:lpstr>
      <vt:lpstr>IMPACT AND BENEFITS</vt:lpstr>
      <vt:lpstr>RESEARCH  AND REFERENCES</vt:lpstr>
      <vt:lpstr>PowerPoint Presentation</vt:lpstr>
    </vt:vector>
  </TitlesOfParts>
  <Manager/>
  <Company>Crowdfunder, Inc.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Investor Pitch Deck Template</dc:title>
  <dc:subject/>
  <dc:creator>Crowdfunder</dc:creator>
  <cp:keywords/>
  <dc:description/>
  <cp:lastModifiedBy>AICTE</cp:lastModifiedBy>
  <cp:revision>148</cp:revision>
  <dcterms:created xsi:type="dcterms:W3CDTF">2013-12-12T18:46:50Z</dcterms:created>
  <dcterms:modified xsi:type="dcterms:W3CDTF">2026-06-02T09:29:39Z</dcterms:modified>
  <cp:category/>
</cp:coreProperties>
</file>